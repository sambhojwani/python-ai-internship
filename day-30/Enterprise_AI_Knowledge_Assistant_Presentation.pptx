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problem this solves rather than the technology. The assistant answers employee questions using the company's own documents, and it shows which document each answer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line is the middle-left card. Hallucination is not a rare failure here, it is the default behaviour when a model is asked about documents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endpoints across authentication, the assistant itself and document management. The 18 test cases include both success and failure paths, such as unauthenticated access and invalid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Emphasise that no AI logic sits inside a route function, which is what made swapping the LLM provider a single-file change later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a commercial API, the honest answer is on the challenges slide. Ollama was a constraint that turned into a reasonable engineering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nine. Name the first three, then say the rest are what turn a demo into something an organisation could actually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It shows a default that was tested rather than guessed, which is the difference between using a library and engineering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of each of these steps are in the screenshots folder of the repository, as a fallback if the live run has any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past this. The point is not that credits ran out, it is that the architecture absorbed a provider swap in one file, and that the trade-off was made knowingly rather than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one is the most useful to admit. Incremental development hides inconsistencies, because each day only tested that day's additions. A deliberate review pass is what surfaced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time for only one, lead with retrieval quality. It is the thing that separates having built a RAG system from having read about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column matters most. Nothing here ships publicly until the JWT secret leaves the source code, and it is better to name that yourself than have it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to walk through any part of the codebase. Ending on an invitation to dig in reads better than ending on a thank-you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2E3B7A"/>
          </a:solidFill>
          <a:ln/>
        </p:spPr>
      </p:sp>
      <p:sp>
        <p:nvSpPr>
          <p:cNvPr id="3" name="Shape 1"/>
          <p:cNvSpPr/>
          <p:nvPr/>
        </p:nvSpPr>
        <p:spPr>
          <a:xfrm>
            <a:off x="10607040" y="4206240"/>
            <a:ext cx="3108960" cy="3108960"/>
          </a:xfrm>
          <a:prstGeom prst="ellipse">
            <a:avLst/>
          </a:prstGeom>
          <a:solidFill>
            <a:srgbClr val="2E3B7A"/>
          </a:solidFill>
          <a:ln/>
        </p:spPr>
      </p:sp>
      <p:sp>
        <p:nvSpPr>
          <p:cNvPr id="4" name="Text 2"/>
          <p:cNvSpPr/>
          <p:nvPr/>
        </p:nvSpPr>
        <p:spPr>
          <a:xfrm>
            <a:off x="822960" y="1417320"/>
            <a:ext cx="86868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30-DAY APPLIED AI &amp; PYTHON ENGINEERING INTERNSHIP</a:t>
            </a:r>
            <a:endParaRPr lang="en-US" sz="1200" dirty="0"/>
          </a:p>
        </p:txBody>
      </p:sp>
      <p:sp>
        <p:nvSpPr>
          <p:cNvPr id="5" name="Text 3"/>
          <p:cNvSpPr/>
          <p:nvPr/>
        </p:nvSpPr>
        <p:spPr>
          <a:xfrm>
            <a:off x="822960" y="1874520"/>
            <a:ext cx="8778240" cy="173736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Enterprise AI</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Knowledge Assistant</a:t>
            </a:r>
            <a:endParaRPr lang="en-US" sz="4600" dirty="0"/>
          </a:p>
        </p:txBody>
      </p:sp>
      <p:sp>
        <p:nvSpPr>
          <p:cNvPr id="6" name="Text 4"/>
          <p:cNvSpPr/>
          <p:nvPr/>
        </p:nvSpPr>
        <p:spPr>
          <a:xfrm>
            <a:off x="822960" y="3703320"/>
            <a:ext cx="82296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Retrieval-Augmented Generation over internal company documentation</a:t>
            </a:r>
            <a:endParaRPr lang="en-US" sz="1600" dirty="0"/>
          </a:p>
        </p:txBody>
      </p:sp>
      <p:sp>
        <p:nvSpPr>
          <p:cNvPr id="7" name="Text 5"/>
          <p:cNvSpPr/>
          <p:nvPr/>
        </p:nvSpPr>
        <p:spPr>
          <a:xfrm>
            <a:off x="822960" y="4709160"/>
            <a:ext cx="6400800" cy="100584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Samarth Bhojwani</a:t>
            </a:r>
            <a:endParaRPr lang="en-US" sz="1500" dirty="0"/>
          </a:p>
          <a:p>
            <a:pPr indent="0" marL="0">
              <a:lnSpc>
                <a:spcPts val="2000"/>
              </a:lnSpc>
              <a:buNone/>
            </a:pPr>
            <a:r>
              <a:rPr lang="en-US" sz="1300" dirty="0">
                <a:solidFill>
                  <a:srgbClr val="CADCFC"/>
                </a:solidFill>
                <a:latin typeface="Calibri" pitchFamily="34" charset="0"/>
                <a:ea typeface="Calibri" pitchFamily="34" charset="-122"/>
                <a:cs typeface="Calibri" pitchFamily="34" charset="-120"/>
              </a:rPr>
              <a:t>Mentor: Harish Kumar S, Team Lead</a:t>
            </a:r>
            <a:endParaRPr lang="en-US" sz="1500" dirty="0"/>
          </a:p>
          <a:p>
            <a:pPr indent="0" marL="0">
              <a:lnSpc>
                <a:spcPts val="2000"/>
              </a:lnSpc>
              <a:buNone/>
            </a:pPr>
            <a:r>
              <a:rPr lang="en-US" sz="1300" dirty="0">
                <a:solidFill>
                  <a:srgbClr val="8A94A6"/>
                </a:solidFill>
                <a:latin typeface="Calibri" pitchFamily="34" charset="0"/>
                <a:ea typeface="Calibri" pitchFamily="34" charset="-122"/>
                <a:cs typeface="Calibri" pitchFamily="34" charset="-120"/>
              </a:rPr>
              <a:t>Muthu Soft Labs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01  PROJECT INTRODUCTION</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The problem</a:t>
            </a:r>
            <a:endParaRPr lang="en-US" sz="3400" dirty="0"/>
          </a:p>
        </p:txBody>
      </p:sp>
      <p:sp>
        <p:nvSpPr>
          <p:cNvPr id="4" name="Text 2"/>
          <p:cNvSpPr/>
          <p:nvPr/>
        </p:nvSpPr>
        <p:spPr>
          <a:xfrm>
            <a:off x="640080" y="1600200"/>
            <a:ext cx="5486400" cy="914400"/>
          </a:xfrm>
          <a:prstGeom prst="rect">
            <a:avLst/>
          </a:prstGeom>
          <a:noFill/>
          <a:ln/>
        </p:spPr>
        <p:txBody>
          <a:bodyPr wrap="square" lIns="0" tIns="0" rIns="0" bIns="0" rtlCol="0" anchor="ctr"/>
          <a:lstStyle/>
          <a:p>
            <a:pPr indent="0" marL="0">
              <a:lnSpc>
                <a:spcPts val="2400"/>
              </a:lnSpc>
              <a:buNone/>
            </a:pPr>
            <a:r>
              <a:rPr lang="en-US" sz="1500" dirty="0">
                <a:solidFill>
                  <a:srgbClr val="4A5568"/>
                </a:solidFill>
                <a:latin typeface="Calibri" pitchFamily="34" charset="0"/>
                <a:ea typeface="Calibri" pitchFamily="34" charset="-122"/>
                <a:cs typeface="Calibri" pitchFamily="34" charset="-120"/>
              </a:rPr>
              <a:t>Internal knowledge is scattered across HR policies, technical guides, SOPs and FAQs. Employees either search manually or interrupt a colleague.</a:t>
            </a:r>
            <a:endParaRPr lang="en-US" sz="1500" dirty="0"/>
          </a:p>
        </p:txBody>
      </p:sp>
      <p:sp>
        <p:nvSpPr>
          <p:cNvPr id="5" name="Shape 3"/>
          <p:cNvSpPr/>
          <p:nvPr/>
        </p:nvSpPr>
        <p:spPr>
          <a:xfrm>
            <a:off x="640080" y="2743200"/>
            <a:ext cx="548640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6" name="Text 4"/>
          <p:cNvSpPr/>
          <p:nvPr/>
        </p:nvSpPr>
        <p:spPr>
          <a:xfrm>
            <a:off x="914400" y="2971800"/>
            <a:ext cx="4937760" cy="2743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a general AI assistant does not solve it</a:t>
            </a:r>
            <a:endParaRPr lang="en-US" sz="1400" dirty="0"/>
          </a:p>
        </p:txBody>
      </p:sp>
      <p:sp>
        <p:nvSpPr>
          <p:cNvPr id="7" name="Text 5"/>
          <p:cNvSpPr/>
          <p:nvPr/>
        </p:nvSpPr>
        <p:spPr>
          <a:xfrm>
            <a:off x="914400" y="3310128"/>
            <a:ext cx="4937760" cy="731520"/>
          </a:xfrm>
          <a:prstGeom prst="rect">
            <a:avLst/>
          </a:prstGeom>
          <a:noFill/>
          <a:ln/>
        </p:spPr>
        <p:txBody>
          <a:bodyPr wrap="square" lIns="0" tIns="0" rIns="0" bIns="0" rtlCol="0" anchor="ctr"/>
          <a:lstStyle/>
          <a:p>
            <a:pPr indent="0" marL="0">
              <a:lnSpc>
                <a:spcPts val="1900"/>
              </a:lnSpc>
              <a:buNone/>
            </a:pPr>
            <a:r>
              <a:rPr lang="en-US" sz="1300" dirty="0">
                <a:solidFill>
                  <a:srgbClr val="4A5568"/>
                </a:solidFill>
                <a:latin typeface="Calibri" pitchFamily="34" charset="0"/>
                <a:ea typeface="Calibri" pitchFamily="34" charset="-122"/>
                <a:cs typeface="Calibri" pitchFamily="34" charset="-120"/>
              </a:rPr>
              <a:t>It has never seen these documents. Asked about your leave policy, it produces a fluent, plausible and entirely invented answer.</a:t>
            </a:r>
            <a:endParaRPr lang="en-US" sz="1300" dirty="0"/>
          </a:p>
        </p:txBody>
      </p:sp>
      <p:sp>
        <p:nvSpPr>
          <p:cNvPr id="8" name="Shape 6"/>
          <p:cNvSpPr/>
          <p:nvPr/>
        </p:nvSpPr>
        <p:spPr>
          <a:xfrm>
            <a:off x="6492240" y="1600200"/>
            <a:ext cx="5029200" cy="2560320"/>
          </a:xfrm>
          <a:prstGeom prst="roundRect">
            <a:avLst>
              <a:gd name="adj" fmla="val 2857"/>
            </a:avLst>
          </a:prstGeom>
          <a:solidFill>
            <a:srgbClr val="1E2761"/>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9" name="Text 7"/>
          <p:cNvSpPr/>
          <p:nvPr/>
        </p:nvSpPr>
        <p:spPr>
          <a:xfrm>
            <a:off x="6858000" y="1874520"/>
            <a:ext cx="4297680" cy="27432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The approach</a:t>
            </a:r>
            <a:endParaRPr lang="en-US" sz="1400" dirty="0"/>
          </a:p>
        </p:txBody>
      </p:sp>
      <p:sp>
        <p:nvSpPr>
          <p:cNvPr id="10" name="Text 8"/>
          <p:cNvSpPr/>
          <p:nvPr/>
        </p:nvSpPr>
        <p:spPr>
          <a:xfrm>
            <a:off x="6858000" y="2286000"/>
            <a:ext cx="4297680" cy="16916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Retrieve the organisation's own documents first</a:t>
            </a:r>
            <a:endParaRPr lang="en-US" sz="1400" dirty="0"/>
          </a:p>
          <a:p>
            <a:pPr marL="342900" indent="-342900">
              <a:lnSpc>
                <a:spcPts val="19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Give the model only that text as context</a:t>
            </a:r>
            <a:endParaRPr lang="en-US" sz="1400" dirty="0"/>
          </a:p>
          <a:p>
            <a:pPr marL="342900" indent="-342900">
              <a:lnSpc>
                <a:spcPts val="19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Instruct it to refuse when the answer is absent</a:t>
            </a:r>
            <a:endParaRPr lang="en-US" sz="1400" dirty="0"/>
          </a:p>
          <a:p>
            <a:pPr marL="342900" indent="-342900">
              <a:lnSpc>
                <a:spcPts val="19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Return the source documents with every answer</a:t>
            </a:r>
            <a:endParaRPr lang="en-US" sz="1400" dirty="0"/>
          </a:p>
        </p:txBody>
      </p:sp>
      <p:sp>
        <p:nvSpPr>
          <p:cNvPr id="11" name="Shape 9"/>
          <p:cNvSpPr/>
          <p:nvPr/>
        </p:nvSpPr>
        <p:spPr>
          <a:xfrm>
            <a:off x="6492240" y="4480560"/>
            <a:ext cx="5029200" cy="1234440"/>
          </a:xfrm>
          <a:prstGeom prst="roundRect">
            <a:avLst>
              <a:gd name="adj" fmla="val 5926"/>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2" name="Text 10"/>
          <p:cNvSpPr/>
          <p:nvPr/>
        </p:nvSpPr>
        <p:spPr>
          <a:xfrm>
            <a:off x="6858000" y="4663440"/>
            <a:ext cx="429768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Who uses it</a:t>
            </a:r>
            <a:endParaRPr lang="en-US" sz="1300" dirty="0"/>
          </a:p>
        </p:txBody>
      </p:sp>
      <p:sp>
        <p:nvSpPr>
          <p:cNvPr id="13" name="Text 11"/>
          <p:cNvSpPr/>
          <p:nvPr/>
        </p:nvSpPr>
        <p:spPr>
          <a:xfrm>
            <a:off x="6858000" y="4956048"/>
            <a:ext cx="4297680" cy="548640"/>
          </a:xfrm>
          <a:prstGeom prst="rect">
            <a:avLst/>
          </a:prstGeom>
          <a:noFill/>
          <a:ln/>
        </p:spPr>
        <p:txBody>
          <a:bodyPr wrap="square" lIns="0" tIns="0" rIns="0" bIns="0" rtlCol="0" anchor="ctr"/>
          <a:lstStyle/>
          <a:p>
            <a:pPr indent="0" marL="0">
              <a:lnSpc>
                <a:spcPts val="1800"/>
              </a:lnSpc>
              <a:buNone/>
            </a:pPr>
            <a:r>
              <a:rPr lang="en-US" sz="1300" dirty="0">
                <a:solidFill>
                  <a:srgbClr val="4A5568"/>
                </a:solidFill>
                <a:latin typeface="Calibri" pitchFamily="34" charset="0"/>
                <a:ea typeface="Calibri" pitchFamily="34" charset="-122"/>
                <a:cs typeface="Calibri" pitchFamily="34" charset="-120"/>
              </a:rPr>
              <a:t>Employees asking day-to-day questions, and administrators maintaining the knowledge base.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02  AT A GLANCE</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What was built</a:t>
            </a:r>
            <a:endParaRPr lang="en-US" sz="3400" dirty="0"/>
          </a:p>
        </p:txBody>
      </p:sp>
      <p:sp>
        <p:nvSpPr>
          <p:cNvPr id="4" name="Shape 2"/>
          <p:cNvSpPr/>
          <p:nvPr/>
        </p:nvSpPr>
        <p:spPr>
          <a:xfrm>
            <a:off x="640080" y="1645920"/>
            <a:ext cx="2606040" cy="146304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5" name="Text 3"/>
          <p:cNvSpPr/>
          <p:nvPr/>
        </p:nvSpPr>
        <p:spPr>
          <a:xfrm>
            <a:off x="640080" y="1810512"/>
            <a:ext cx="260604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20</a:t>
            </a:r>
            <a:endParaRPr lang="en-US" sz="4000" dirty="0"/>
          </a:p>
        </p:txBody>
      </p:sp>
      <p:sp>
        <p:nvSpPr>
          <p:cNvPr id="6" name="Text 4"/>
          <p:cNvSpPr/>
          <p:nvPr/>
        </p:nvSpPr>
        <p:spPr>
          <a:xfrm>
            <a:off x="640080" y="2514600"/>
            <a:ext cx="2606040" cy="320040"/>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documents indexed</a:t>
            </a:r>
            <a:endParaRPr lang="en-US" sz="1200" dirty="0"/>
          </a:p>
        </p:txBody>
      </p:sp>
      <p:sp>
        <p:nvSpPr>
          <p:cNvPr id="7" name="Shape 5"/>
          <p:cNvSpPr/>
          <p:nvPr/>
        </p:nvSpPr>
        <p:spPr>
          <a:xfrm>
            <a:off x="3456432" y="1645920"/>
            <a:ext cx="2606040" cy="146304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8" name="Text 6"/>
          <p:cNvSpPr/>
          <p:nvPr/>
        </p:nvSpPr>
        <p:spPr>
          <a:xfrm>
            <a:off x="3456432" y="1810512"/>
            <a:ext cx="260604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5</a:t>
            </a:r>
            <a:endParaRPr lang="en-US" sz="4000" dirty="0"/>
          </a:p>
        </p:txBody>
      </p:sp>
      <p:sp>
        <p:nvSpPr>
          <p:cNvPr id="9" name="Text 7"/>
          <p:cNvSpPr/>
          <p:nvPr/>
        </p:nvSpPr>
        <p:spPr>
          <a:xfrm>
            <a:off x="3456432" y="2514600"/>
            <a:ext cx="2606040" cy="320040"/>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knowledge categories</a:t>
            </a:r>
            <a:endParaRPr lang="en-US" sz="1200" dirty="0"/>
          </a:p>
        </p:txBody>
      </p:sp>
      <p:sp>
        <p:nvSpPr>
          <p:cNvPr id="10" name="Shape 8"/>
          <p:cNvSpPr/>
          <p:nvPr/>
        </p:nvSpPr>
        <p:spPr>
          <a:xfrm>
            <a:off x="6272784" y="1645920"/>
            <a:ext cx="2606040" cy="146304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1" name="Text 9"/>
          <p:cNvSpPr/>
          <p:nvPr/>
        </p:nvSpPr>
        <p:spPr>
          <a:xfrm>
            <a:off x="6272784" y="1810512"/>
            <a:ext cx="260604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12</a:t>
            </a:r>
            <a:endParaRPr lang="en-US" sz="4000" dirty="0"/>
          </a:p>
        </p:txBody>
      </p:sp>
      <p:sp>
        <p:nvSpPr>
          <p:cNvPr id="12" name="Text 10"/>
          <p:cNvSpPr/>
          <p:nvPr/>
        </p:nvSpPr>
        <p:spPr>
          <a:xfrm>
            <a:off x="6272784" y="2514600"/>
            <a:ext cx="2606040" cy="320040"/>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REST endpoints</a:t>
            </a:r>
            <a:endParaRPr lang="en-US" sz="1200" dirty="0"/>
          </a:p>
        </p:txBody>
      </p:sp>
      <p:sp>
        <p:nvSpPr>
          <p:cNvPr id="13" name="Shape 11"/>
          <p:cNvSpPr/>
          <p:nvPr/>
        </p:nvSpPr>
        <p:spPr>
          <a:xfrm>
            <a:off x="9089136" y="1645920"/>
            <a:ext cx="2606040" cy="146304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4" name="Text 12"/>
          <p:cNvSpPr/>
          <p:nvPr/>
        </p:nvSpPr>
        <p:spPr>
          <a:xfrm>
            <a:off x="9089136" y="1810512"/>
            <a:ext cx="2606040" cy="68580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18/18</a:t>
            </a:r>
            <a:endParaRPr lang="en-US" sz="4000" dirty="0"/>
          </a:p>
        </p:txBody>
      </p:sp>
      <p:sp>
        <p:nvSpPr>
          <p:cNvPr id="15" name="Text 13"/>
          <p:cNvSpPr/>
          <p:nvPr/>
        </p:nvSpPr>
        <p:spPr>
          <a:xfrm>
            <a:off x="9089136" y="2514600"/>
            <a:ext cx="2606040" cy="320040"/>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test cases passed</a:t>
            </a:r>
            <a:endParaRPr lang="en-US" sz="1200" dirty="0"/>
          </a:p>
        </p:txBody>
      </p:sp>
      <p:sp>
        <p:nvSpPr>
          <p:cNvPr id="16" name="Shape 14"/>
          <p:cNvSpPr/>
          <p:nvPr/>
        </p:nvSpPr>
        <p:spPr>
          <a:xfrm>
            <a:off x="640080" y="3429000"/>
            <a:ext cx="352044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7" name="Shape 15"/>
          <p:cNvSpPr/>
          <p:nvPr/>
        </p:nvSpPr>
        <p:spPr>
          <a:xfrm>
            <a:off x="914400" y="3657600"/>
            <a:ext cx="384048" cy="384048"/>
          </a:xfrm>
          <a:prstGeom prst="ellipse">
            <a:avLst/>
          </a:prstGeom>
          <a:solidFill>
            <a:srgbClr val="1E2761"/>
          </a:solidFill>
          <a:ln/>
        </p:spPr>
      </p:sp>
      <p:sp>
        <p:nvSpPr>
          <p:cNvPr id="18" name="Text 16"/>
          <p:cNvSpPr/>
          <p:nvPr/>
        </p:nvSpPr>
        <p:spPr>
          <a:xfrm>
            <a:off x="91440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7"/>
          <p:cNvSpPr/>
          <p:nvPr/>
        </p:nvSpPr>
        <p:spPr>
          <a:xfrm>
            <a:off x="914400" y="4160520"/>
            <a:ext cx="29718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Grounded answers</a:t>
            </a:r>
            <a:endParaRPr lang="en-US" sz="1500" dirty="0"/>
          </a:p>
        </p:txBody>
      </p:sp>
      <p:sp>
        <p:nvSpPr>
          <p:cNvPr id="20" name="Text 18"/>
          <p:cNvSpPr/>
          <p:nvPr/>
        </p:nvSpPr>
        <p:spPr>
          <a:xfrm>
            <a:off x="914400" y="4498848"/>
            <a:ext cx="297180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Every response is generated from retrieved documents, never from the model's own training knowledge.</a:t>
            </a:r>
            <a:endParaRPr lang="en-US" sz="1250" dirty="0"/>
          </a:p>
        </p:txBody>
      </p:sp>
      <p:sp>
        <p:nvSpPr>
          <p:cNvPr id="21" name="Shape 19"/>
          <p:cNvSpPr/>
          <p:nvPr/>
        </p:nvSpPr>
        <p:spPr>
          <a:xfrm>
            <a:off x="4398264" y="3429000"/>
            <a:ext cx="352044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22" name="Shape 20"/>
          <p:cNvSpPr/>
          <p:nvPr/>
        </p:nvSpPr>
        <p:spPr>
          <a:xfrm>
            <a:off x="4672584" y="3657600"/>
            <a:ext cx="384048" cy="384048"/>
          </a:xfrm>
          <a:prstGeom prst="ellipse">
            <a:avLst/>
          </a:prstGeom>
          <a:solidFill>
            <a:srgbClr val="1E2761"/>
          </a:solidFill>
          <a:ln/>
        </p:spPr>
      </p:sp>
      <p:sp>
        <p:nvSpPr>
          <p:cNvPr id="23" name="Text 21"/>
          <p:cNvSpPr/>
          <p:nvPr/>
        </p:nvSpPr>
        <p:spPr>
          <a:xfrm>
            <a:off x="4672584"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4672584" y="4160520"/>
            <a:ext cx="29718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Traceable sources</a:t>
            </a:r>
            <a:endParaRPr lang="en-US" sz="1500" dirty="0"/>
          </a:p>
        </p:txBody>
      </p:sp>
      <p:sp>
        <p:nvSpPr>
          <p:cNvPr id="25" name="Text 23"/>
          <p:cNvSpPr/>
          <p:nvPr/>
        </p:nvSpPr>
        <p:spPr>
          <a:xfrm>
            <a:off x="4672584" y="4498848"/>
            <a:ext cx="297180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Document names and cosine similarity scores are returned alongside each answer.</a:t>
            </a:r>
            <a:endParaRPr lang="en-US" sz="1250" dirty="0"/>
          </a:p>
        </p:txBody>
      </p:sp>
      <p:sp>
        <p:nvSpPr>
          <p:cNvPr id="26" name="Shape 24"/>
          <p:cNvSpPr/>
          <p:nvPr/>
        </p:nvSpPr>
        <p:spPr>
          <a:xfrm>
            <a:off x="8156448" y="3429000"/>
            <a:ext cx="352044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27" name="Shape 25"/>
          <p:cNvSpPr/>
          <p:nvPr/>
        </p:nvSpPr>
        <p:spPr>
          <a:xfrm>
            <a:off x="8430768" y="3657600"/>
            <a:ext cx="384048" cy="384048"/>
          </a:xfrm>
          <a:prstGeom prst="ellipse">
            <a:avLst/>
          </a:prstGeom>
          <a:solidFill>
            <a:srgbClr val="1E2761"/>
          </a:solidFill>
          <a:ln/>
        </p:spPr>
      </p:sp>
      <p:sp>
        <p:nvSpPr>
          <p:cNvPr id="28" name="Text 26"/>
          <p:cNvSpPr/>
          <p:nvPr/>
        </p:nvSpPr>
        <p:spPr>
          <a:xfrm>
            <a:off x="8430768"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7"/>
          <p:cNvSpPr/>
          <p:nvPr/>
        </p:nvSpPr>
        <p:spPr>
          <a:xfrm>
            <a:off x="8430768" y="4160520"/>
            <a:ext cx="29718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Secured and observed</a:t>
            </a:r>
            <a:endParaRPr lang="en-US" sz="1500" dirty="0"/>
          </a:p>
        </p:txBody>
      </p:sp>
      <p:sp>
        <p:nvSpPr>
          <p:cNvPr id="30" name="Text 28"/>
          <p:cNvSpPr/>
          <p:nvPr/>
        </p:nvSpPr>
        <p:spPr>
          <a:xfrm>
            <a:off x="8430768" y="4498848"/>
            <a:ext cx="297180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JWT-protected endpoints, per-user history, feedback ratings and usage analytics.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03  HOW A REQUEST FLOWS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System architecture</a:t>
            </a:r>
            <a:endParaRPr lang="en-US" sz="3400" dirty="0"/>
          </a:p>
        </p:txBody>
      </p:sp>
      <p:sp>
        <p:nvSpPr>
          <p:cNvPr id="4" name="Shape 2"/>
          <p:cNvSpPr/>
          <p:nvPr/>
        </p:nvSpPr>
        <p:spPr>
          <a:xfrm>
            <a:off x="644652" y="1783080"/>
            <a:ext cx="1481328" cy="1371600"/>
          </a:xfrm>
          <a:prstGeom prst="roundRect">
            <a:avLst>
              <a:gd name="adj" fmla="val 6667"/>
            </a:avLst>
          </a:prstGeom>
          <a:solidFill>
            <a:srgbClr val="FFFFFF"/>
          </a:solidFill>
          <a:ln w="15875">
            <a:solidFill>
              <a:srgbClr val="D6DEE9"/>
            </a:solidFill>
            <a:prstDash val="solid"/>
          </a:ln>
        </p:spPr>
      </p:sp>
      <p:sp>
        <p:nvSpPr>
          <p:cNvPr id="5" name="Text 3"/>
          <p:cNvSpPr/>
          <p:nvPr/>
        </p:nvSpPr>
        <p:spPr>
          <a:xfrm>
            <a:off x="644652" y="1993392"/>
            <a:ext cx="1481328" cy="292608"/>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Client</a:t>
            </a:r>
            <a:endParaRPr lang="en-US" sz="1350" dirty="0"/>
          </a:p>
        </p:txBody>
      </p:sp>
      <p:sp>
        <p:nvSpPr>
          <p:cNvPr id="6" name="Text 4"/>
          <p:cNvSpPr/>
          <p:nvPr/>
        </p:nvSpPr>
        <p:spPr>
          <a:xfrm>
            <a:off x="644652" y="2331720"/>
            <a:ext cx="1481328" cy="640080"/>
          </a:xfrm>
          <a:prstGeom prst="rect">
            <a:avLst/>
          </a:prstGeom>
          <a:noFill/>
          <a:ln/>
        </p:spPr>
        <p:txBody>
          <a:bodyPr wrap="square" lIns="0" tIns="0" rIns="0" bIns="0" rtlCol="0" anchor="ctr"/>
          <a:lstStyle/>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Authenticated</a:t>
            </a:r>
            <a:endParaRPr lang="en-US" sz="1050" dirty="0"/>
          </a:p>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request</a:t>
            </a:r>
            <a:endParaRPr lang="en-US" sz="1050" dirty="0"/>
          </a:p>
        </p:txBody>
      </p:sp>
      <p:sp>
        <p:nvSpPr>
          <p:cNvPr id="7" name="Shape 5"/>
          <p:cNvSpPr/>
          <p:nvPr/>
        </p:nvSpPr>
        <p:spPr>
          <a:xfrm>
            <a:off x="2208276" y="2359152"/>
            <a:ext cx="237744" cy="201168"/>
          </a:xfrm>
          <a:prstGeom prst="rightArrow">
            <a:avLst/>
          </a:prstGeom>
          <a:solidFill>
            <a:srgbClr val="E8A33D"/>
          </a:solidFill>
          <a:ln w="12700">
            <a:solidFill>
              <a:srgbClr val="E8A33D"/>
            </a:solidFill>
            <a:prstDash val="solid"/>
          </a:ln>
        </p:spPr>
      </p:sp>
      <p:sp>
        <p:nvSpPr>
          <p:cNvPr id="8" name="Shape 6"/>
          <p:cNvSpPr/>
          <p:nvPr/>
        </p:nvSpPr>
        <p:spPr>
          <a:xfrm>
            <a:off x="2528316" y="1783080"/>
            <a:ext cx="1481328" cy="1371600"/>
          </a:xfrm>
          <a:prstGeom prst="roundRect">
            <a:avLst>
              <a:gd name="adj" fmla="val 6667"/>
            </a:avLst>
          </a:prstGeom>
          <a:solidFill>
            <a:srgbClr val="FFFFFF"/>
          </a:solidFill>
          <a:ln w="15875">
            <a:solidFill>
              <a:srgbClr val="D6DEE9"/>
            </a:solidFill>
            <a:prstDash val="solid"/>
          </a:ln>
        </p:spPr>
      </p:sp>
      <p:sp>
        <p:nvSpPr>
          <p:cNvPr id="9" name="Text 7"/>
          <p:cNvSpPr/>
          <p:nvPr/>
        </p:nvSpPr>
        <p:spPr>
          <a:xfrm>
            <a:off x="2528316" y="1993392"/>
            <a:ext cx="1481328" cy="292608"/>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FastAPI</a:t>
            </a:r>
            <a:endParaRPr lang="en-US" sz="1350" dirty="0"/>
          </a:p>
        </p:txBody>
      </p:sp>
      <p:sp>
        <p:nvSpPr>
          <p:cNvPr id="10" name="Text 8"/>
          <p:cNvSpPr/>
          <p:nvPr/>
        </p:nvSpPr>
        <p:spPr>
          <a:xfrm>
            <a:off x="2528316" y="2331720"/>
            <a:ext cx="1481328" cy="640080"/>
          </a:xfrm>
          <a:prstGeom prst="rect">
            <a:avLst/>
          </a:prstGeom>
          <a:noFill/>
          <a:ln/>
        </p:spPr>
        <p:txBody>
          <a:bodyPr wrap="square" lIns="0" tIns="0" rIns="0" bIns="0" rtlCol="0" anchor="ctr"/>
          <a:lstStyle/>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JWT validated,</a:t>
            </a:r>
            <a:endParaRPr lang="en-US" sz="1050" dirty="0"/>
          </a:p>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user resolved</a:t>
            </a:r>
            <a:endParaRPr lang="en-US" sz="1050" dirty="0"/>
          </a:p>
        </p:txBody>
      </p:sp>
      <p:sp>
        <p:nvSpPr>
          <p:cNvPr id="11" name="Shape 9"/>
          <p:cNvSpPr/>
          <p:nvPr/>
        </p:nvSpPr>
        <p:spPr>
          <a:xfrm>
            <a:off x="4091940" y="2359152"/>
            <a:ext cx="237744" cy="201168"/>
          </a:xfrm>
          <a:prstGeom prst="rightArrow">
            <a:avLst/>
          </a:prstGeom>
          <a:solidFill>
            <a:srgbClr val="E8A33D"/>
          </a:solidFill>
          <a:ln w="12700">
            <a:solidFill>
              <a:srgbClr val="E8A33D"/>
            </a:solidFill>
            <a:prstDash val="solid"/>
          </a:ln>
        </p:spPr>
      </p:sp>
      <p:sp>
        <p:nvSpPr>
          <p:cNvPr id="12" name="Shape 10"/>
          <p:cNvSpPr/>
          <p:nvPr/>
        </p:nvSpPr>
        <p:spPr>
          <a:xfrm>
            <a:off x="4411980" y="1783080"/>
            <a:ext cx="1481328" cy="1371600"/>
          </a:xfrm>
          <a:prstGeom prst="roundRect">
            <a:avLst>
              <a:gd name="adj" fmla="val 6667"/>
            </a:avLst>
          </a:prstGeom>
          <a:solidFill>
            <a:srgbClr val="FFFFFF"/>
          </a:solidFill>
          <a:ln w="15875">
            <a:solidFill>
              <a:srgbClr val="D6DEE9"/>
            </a:solidFill>
            <a:prstDash val="solid"/>
          </a:ln>
        </p:spPr>
      </p:sp>
      <p:sp>
        <p:nvSpPr>
          <p:cNvPr id="13" name="Text 11"/>
          <p:cNvSpPr/>
          <p:nvPr/>
        </p:nvSpPr>
        <p:spPr>
          <a:xfrm>
            <a:off x="4411980" y="1993392"/>
            <a:ext cx="1481328" cy="292608"/>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Embedding</a:t>
            </a:r>
            <a:endParaRPr lang="en-US" sz="1350" dirty="0"/>
          </a:p>
        </p:txBody>
      </p:sp>
      <p:sp>
        <p:nvSpPr>
          <p:cNvPr id="14" name="Text 12"/>
          <p:cNvSpPr/>
          <p:nvPr/>
        </p:nvSpPr>
        <p:spPr>
          <a:xfrm>
            <a:off x="4411980" y="2331720"/>
            <a:ext cx="1481328" cy="640080"/>
          </a:xfrm>
          <a:prstGeom prst="rect">
            <a:avLst/>
          </a:prstGeom>
          <a:noFill/>
          <a:ln/>
        </p:spPr>
        <p:txBody>
          <a:bodyPr wrap="square" lIns="0" tIns="0" rIns="0" bIns="0" rtlCol="0" anchor="ctr"/>
          <a:lstStyle/>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Question to</a:t>
            </a:r>
            <a:endParaRPr lang="en-US" sz="1050" dirty="0"/>
          </a:p>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vector</a:t>
            </a:r>
            <a:endParaRPr lang="en-US" sz="1050" dirty="0"/>
          </a:p>
        </p:txBody>
      </p:sp>
      <p:sp>
        <p:nvSpPr>
          <p:cNvPr id="15" name="Shape 13"/>
          <p:cNvSpPr/>
          <p:nvPr/>
        </p:nvSpPr>
        <p:spPr>
          <a:xfrm>
            <a:off x="5975604" y="2359152"/>
            <a:ext cx="237744" cy="201168"/>
          </a:xfrm>
          <a:prstGeom prst="rightArrow">
            <a:avLst/>
          </a:prstGeom>
          <a:solidFill>
            <a:srgbClr val="E8A33D"/>
          </a:solidFill>
          <a:ln w="12700">
            <a:solidFill>
              <a:srgbClr val="E8A33D"/>
            </a:solidFill>
            <a:prstDash val="solid"/>
          </a:ln>
        </p:spPr>
      </p:sp>
      <p:sp>
        <p:nvSpPr>
          <p:cNvPr id="16" name="Shape 14"/>
          <p:cNvSpPr/>
          <p:nvPr/>
        </p:nvSpPr>
        <p:spPr>
          <a:xfrm>
            <a:off x="6295644" y="1783080"/>
            <a:ext cx="1481328" cy="1371600"/>
          </a:xfrm>
          <a:prstGeom prst="roundRect">
            <a:avLst>
              <a:gd name="adj" fmla="val 6667"/>
            </a:avLst>
          </a:prstGeom>
          <a:solidFill>
            <a:srgbClr val="FFFFFF"/>
          </a:solidFill>
          <a:ln w="15875">
            <a:solidFill>
              <a:srgbClr val="D6DEE9"/>
            </a:solidFill>
            <a:prstDash val="solid"/>
          </a:ln>
        </p:spPr>
      </p:sp>
      <p:sp>
        <p:nvSpPr>
          <p:cNvPr id="17" name="Text 15"/>
          <p:cNvSpPr/>
          <p:nvPr/>
        </p:nvSpPr>
        <p:spPr>
          <a:xfrm>
            <a:off x="6295644" y="1993392"/>
            <a:ext cx="1481328" cy="292608"/>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ChromaDB</a:t>
            </a:r>
            <a:endParaRPr lang="en-US" sz="1350" dirty="0"/>
          </a:p>
        </p:txBody>
      </p:sp>
      <p:sp>
        <p:nvSpPr>
          <p:cNvPr id="18" name="Text 16"/>
          <p:cNvSpPr/>
          <p:nvPr/>
        </p:nvSpPr>
        <p:spPr>
          <a:xfrm>
            <a:off x="6295644" y="2331720"/>
            <a:ext cx="1481328" cy="640080"/>
          </a:xfrm>
          <a:prstGeom prst="rect">
            <a:avLst/>
          </a:prstGeom>
          <a:noFill/>
          <a:ln/>
        </p:spPr>
        <p:txBody>
          <a:bodyPr wrap="square" lIns="0" tIns="0" rIns="0" bIns="0" rtlCol="0" anchor="ctr"/>
          <a:lstStyle/>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Top 3 by cosine</a:t>
            </a:r>
            <a:endParaRPr lang="en-US" sz="1050" dirty="0"/>
          </a:p>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similarity</a:t>
            </a:r>
            <a:endParaRPr lang="en-US" sz="1050" dirty="0"/>
          </a:p>
        </p:txBody>
      </p:sp>
      <p:sp>
        <p:nvSpPr>
          <p:cNvPr id="19" name="Shape 17"/>
          <p:cNvSpPr/>
          <p:nvPr/>
        </p:nvSpPr>
        <p:spPr>
          <a:xfrm>
            <a:off x="7859268" y="2359152"/>
            <a:ext cx="237744" cy="201168"/>
          </a:xfrm>
          <a:prstGeom prst="rightArrow">
            <a:avLst/>
          </a:prstGeom>
          <a:solidFill>
            <a:srgbClr val="E8A33D"/>
          </a:solidFill>
          <a:ln w="12700">
            <a:solidFill>
              <a:srgbClr val="E8A33D"/>
            </a:solidFill>
            <a:prstDash val="solid"/>
          </a:ln>
        </p:spPr>
      </p:sp>
      <p:sp>
        <p:nvSpPr>
          <p:cNvPr id="20" name="Shape 18"/>
          <p:cNvSpPr/>
          <p:nvPr/>
        </p:nvSpPr>
        <p:spPr>
          <a:xfrm>
            <a:off x="8179308" y="1783080"/>
            <a:ext cx="1481328" cy="1371600"/>
          </a:xfrm>
          <a:prstGeom prst="roundRect">
            <a:avLst>
              <a:gd name="adj" fmla="val 6667"/>
            </a:avLst>
          </a:prstGeom>
          <a:solidFill>
            <a:srgbClr val="1E2761"/>
          </a:solidFill>
          <a:ln w="15875">
            <a:solidFill>
              <a:srgbClr val="1E2761"/>
            </a:solidFill>
            <a:prstDash val="solid"/>
          </a:ln>
        </p:spPr>
      </p:sp>
      <p:sp>
        <p:nvSpPr>
          <p:cNvPr id="21" name="Text 19"/>
          <p:cNvSpPr/>
          <p:nvPr/>
        </p:nvSpPr>
        <p:spPr>
          <a:xfrm>
            <a:off x="8179308" y="1993392"/>
            <a:ext cx="1481328"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Ollama LLM</a:t>
            </a:r>
            <a:endParaRPr lang="en-US" sz="1350" dirty="0"/>
          </a:p>
        </p:txBody>
      </p:sp>
      <p:sp>
        <p:nvSpPr>
          <p:cNvPr id="22" name="Text 20"/>
          <p:cNvSpPr/>
          <p:nvPr/>
        </p:nvSpPr>
        <p:spPr>
          <a:xfrm>
            <a:off x="8179308" y="2331720"/>
            <a:ext cx="1481328" cy="640080"/>
          </a:xfrm>
          <a:prstGeom prst="rect">
            <a:avLst/>
          </a:prstGeom>
          <a:noFill/>
          <a:ln/>
        </p:spPr>
        <p:txBody>
          <a:bodyPr wrap="square" lIns="0" tIns="0" rIns="0" bIns="0" rtlCol="0" anchor="ctr"/>
          <a:lstStyle/>
          <a:p>
            <a:pPr algn="ctr" indent="0" marL="0">
              <a:lnSpc>
                <a:spcPts val="1400"/>
              </a:lnSpc>
              <a:buNone/>
            </a:pPr>
            <a:r>
              <a:rPr lang="en-US" sz="1050" dirty="0">
                <a:solidFill>
                  <a:srgbClr val="CADCFC"/>
                </a:solidFill>
                <a:latin typeface="Calibri" pitchFamily="34" charset="0"/>
                <a:ea typeface="Calibri" pitchFamily="34" charset="-122"/>
                <a:cs typeface="Calibri" pitchFamily="34" charset="-120"/>
              </a:rPr>
              <a:t>Answer from</a:t>
            </a:r>
            <a:endParaRPr lang="en-US" sz="1050" dirty="0"/>
          </a:p>
          <a:p>
            <a:pPr algn="ctr" indent="0" marL="0">
              <a:lnSpc>
                <a:spcPts val="1400"/>
              </a:lnSpc>
              <a:buNone/>
            </a:pPr>
            <a:r>
              <a:rPr lang="en-US" sz="1050" dirty="0">
                <a:solidFill>
                  <a:srgbClr val="CADCFC"/>
                </a:solidFill>
                <a:latin typeface="Calibri" pitchFamily="34" charset="0"/>
                <a:ea typeface="Calibri" pitchFamily="34" charset="-122"/>
                <a:cs typeface="Calibri" pitchFamily="34" charset="-120"/>
              </a:rPr>
              <a:t>context only</a:t>
            </a:r>
            <a:endParaRPr lang="en-US" sz="1050" dirty="0"/>
          </a:p>
        </p:txBody>
      </p:sp>
      <p:sp>
        <p:nvSpPr>
          <p:cNvPr id="23" name="Shape 21"/>
          <p:cNvSpPr/>
          <p:nvPr/>
        </p:nvSpPr>
        <p:spPr>
          <a:xfrm>
            <a:off x="9742932" y="2359152"/>
            <a:ext cx="237744" cy="201168"/>
          </a:xfrm>
          <a:prstGeom prst="rightArrow">
            <a:avLst/>
          </a:prstGeom>
          <a:solidFill>
            <a:srgbClr val="E8A33D"/>
          </a:solidFill>
          <a:ln w="12700">
            <a:solidFill>
              <a:srgbClr val="E8A33D"/>
            </a:solidFill>
            <a:prstDash val="solid"/>
          </a:ln>
        </p:spPr>
      </p:sp>
      <p:sp>
        <p:nvSpPr>
          <p:cNvPr id="24" name="Shape 22"/>
          <p:cNvSpPr/>
          <p:nvPr/>
        </p:nvSpPr>
        <p:spPr>
          <a:xfrm>
            <a:off x="10062972" y="1783080"/>
            <a:ext cx="1481328" cy="1371600"/>
          </a:xfrm>
          <a:prstGeom prst="roundRect">
            <a:avLst>
              <a:gd name="adj" fmla="val 6667"/>
            </a:avLst>
          </a:prstGeom>
          <a:solidFill>
            <a:srgbClr val="FFFFFF"/>
          </a:solidFill>
          <a:ln w="15875">
            <a:solidFill>
              <a:srgbClr val="D6DEE9"/>
            </a:solidFill>
            <a:prstDash val="solid"/>
          </a:ln>
        </p:spPr>
      </p:sp>
      <p:sp>
        <p:nvSpPr>
          <p:cNvPr id="25" name="Text 23"/>
          <p:cNvSpPr/>
          <p:nvPr/>
        </p:nvSpPr>
        <p:spPr>
          <a:xfrm>
            <a:off x="10062972" y="1993392"/>
            <a:ext cx="1481328" cy="292608"/>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Response</a:t>
            </a:r>
            <a:endParaRPr lang="en-US" sz="1350" dirty="0"/>
          </a:p>
        </p:txBody>
      </p:sp>
      <p:sp>
        <p:nvSpPr>
          <p:cNvPr id="26" name="Text 24"/>
          <p:cNvSpPr/>
          <p:nvPr/>
        </p:nvSpPr>
        <p:spPr>
          <a:xfrm>
            <a:off x="10062972" y="2331720"/>
            <a:ext cx="1481328" cy="640080"/>
          </a:xfrm>
          <a:prstGeom prst="rect">
            <a:avLst/>
          </a:prstGeom>
          <a:noFill/>
          <a:ln/>
        </p:spPr>
        <p:txBody>
          <a:bodyPr wrap="square" lIns="0" tIns="0" rIns="0" bIns="0" rtlCol="0" anchor="ctr"/>
          <a:lstStyle/>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Answer plus</a:t>
            </a:r>
            <a:endParaRPr lang="en-US" sz="1050" dirty="0"/>
          </a:p>
          <a:p>
            <a:pPr algn="ctr" indent="0" marL="0">
              <a:lnSpc>
                <a:spcPts val="1400"/>
              </a:lnSpc>
              <a:buNone/>
            </a:pPr>
            <a:r>
              <a:rPr lang="en-US" sz="1050" dirty="0">
                <a:solidFill>
                  <a:srgbClr val="8A94A6"/>
                </a:solidFill>
                <a:latin typeface="Calibri" pitchFamily="34" charset="0"/>
                <a:ea typeface="Calibri" pitchFamily="34" charset="-122"/>
                <a:cs typeface="Calibri" pitchFamily="34" charset="-120"/>
              </a:rPr>
              <a:t>sources</a:t>
            </a:r>
            <a:endParaRPr lang="en-US" sz="1050" dirty="0"/>
          </a:p>
        </p:txBody>
      </p:sp>
      <p:sp>
        <p:nvSpPr>
          <p:cNvPr id="27" name="Shape 25"/>
          <p:cNvSpPr/>
          <p:nvPr/>
        </p:nvSpPr>
        <p:spPr>
          <a:xfrm>
            <a:off x="640080" y="3611880"/>
            <a:ext cx="539496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28" name="Text 26"/>
          <p:cNvSpPr/>
          <p:nvPr/>
        </p:nvSpPr>
        <p:spPr>
          <a:xfrm>
            <a:off x="914400" y="3822192"/>
            <a:ext cx="484632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Three-layer separation</a:t>
            </a:r>
            <a:endParaRPr lang="en-US" sz="1500" dirty="0"/>
          </a:p>
        </p:txBody>
      </p:sp>
      <p:sp>
        <p:nvSpPr>
          <p:cNvPr id="29" name="Text 27"/>
          <p:cNvSpPr/>
          <p:nvPr/>
        </p:nvSpPr>
        <p:spPr>
          <a:xfrm>
            <a:off x="914400" y="4187952"/>
            <a:ext cx="4846320" cy="128016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4A5568"/>
                </a:solidFill>
                <a:latin typeface="Calibri" pitchFamily="34" charset="0"/>
                <a:ea typeface="Calibri" pitchFamily="34" charset="-122"/>
                <a:cs typeface="Calibri" pitchFamily="34" charset="-120"/>
              </a:rPr>
              <a:t>Routes handle HTTP only: parsing, status codes, auth dependencies</a:t>
            </a:r>
            <a:endParaRPr lang="en-US" sz="1300" dirty="0"/>
          </a:p>
          <a:p>
            <a:pPr marL="342900" indent="-342900">
              <a:lnSpc>
                <a:spcPts val="1800"/>
              </a:lnSpc>
              <a:spcAft>
                <a:spcPts val="700"/>
              </a:spcAft>
              <a:buSzPct val="100000"/>
              <a:buChar char="•"/>
            </a:pPr>
            <a:r>
              <a:rPr lang="en-US" sz="1300" dirty="0">
                <a:solidFill>
                  <a:srgbClr val="4A5568"/>
                </a:solidFill>
                <a:latin typeface="Calibri" pitchFamily="34" charset="0"/>
                <a:ea typeface="Calibri" pitchFamily="34" charset="-122"/>
                <a:cs typeface="Calibri" pitchFamily="34" charset="-120"/>
              </a:rPr>
              <a:t>Services hold all business logic, split by responsibility</a:t>
            </a:r>
            <a:endParaRPr lang="en-US" sz="1300" dirty="0"/>
          </a:p>
          <a:p>
            <a:pPr marL="342900" indent="-342900">
              <a:lnSpc>
                <a:spcPts val="1800"/>
              </a:lnSpc>
              <a:spcAft>
                <a:spcPts val="700"/>
              </a:spcAft>
              <a:buSzPct val="100000"/>
              <a:buChar char="•"/>
            </a:pPr>
            <a:r>
              <a:rPr lang="en-US" sz="1300" dirty="0">
                <a:solidFill>
                  <a:srgbClr val="4A5568"/>
                </a:solidFill>
                <a:latin typeface="Calibri" pitchFamily="34" charset="0"/>
                <a:ea typeface="Calibri" pitchFamily="34" charset="-122"/>
                <a:cs typeface="Calibri" pitchFamily="34" charset="-120"/>
              </a:rPr>
              <a:t>Models and schemas define tables and request contracts</a:t>
            </a:r>
            <a:endParaRPr lang="en-US" sz="1300" dirty="0"/>
          </a:p>
        </p:txBody>
      </p:sp>
      <p:sp>
        <p:nvSpPr>
          <p:cNvPr id="30" name="Shape 28"/>
          <p:cNvSpPr/>
          <p:nvPr/>
        </p:nvSpPr>
        <p:spPr>
          <a:xfrm>
            <a:off x="6400800" y="3611880"/>
            <a:ext cx="512064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31" name="Text 29"/>
          <p:cNvSpPr/>
          <p:nvPr/>
        </p:nvSpPr>
        <p:spPr>
          <a:xfrm>
            <a:off x="6675120" y="3822192"/>
            <a:ext cx="45720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Two stores, two purposes</a:t>
            </a:r>
            <a:endParaRPr lang="en-US" sz="1500" dirty="0"/>
          </a:p>
        </p:txBody>
      </p:sp>
      <p:sp>
        <p:nvSpPr>
          <p:cNvPr id="32" name="Text 30"/>
          <p:cNvSpPr/>
          <p:nvPr/>
        </p:nvSpPr>
        <p:spPr>
          <a:xfrm>
            <a:off x="6675120" y="4206240"/>
            <a:ext cx="4572000" cy="1280160"/>
          </a:xfrm>
          <a:prstGeom prst="rect">
            <a:avLst/>
          </a:prstGeom>
          <a:noFill/>
          <a:ln/>
        </p:spPr>
        <p:txBody>
          <a:bodyPr wrap="square" lIns="0" tIns="0" rIns="0" bIns="0" rtlCol="0" anchor="ctr"/>
          <a:lstStyle/>
          <a:p>
            <a:pPr indent="0" marL="0">
              <a:lnSpc>
                <a:spcPts val="1700"/>
              </a:lnSpc>
              <a:buNone/>
            </a:pPr>
            <a:r>
              <a:rPr lang="en-US" sz="1300" b="1" dirty="0">
                <a:solidFill>
                  <a:srgbClr val="1E2761"/>
                </a:solidFill>
                <a:latin typeface="Calibri" pitchFamily="34" charset="0"/>
                <a:ea typeface="Calibri" pitchFamily="34" charset="-122"/>
                <a:cs typeface="Calibri" pitchFamily="34" charset="-120"/>
              </a:rPr>
              <a:t>ChromaDB</a:t>
            </a:r>
            <a:endParaRPr lang="en-US" sz="1300" dirty="0"/>
          </a:p>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Document embeddings and similarity queries</a:t>
            </a:r>
            <a:endParaRPr lang="en-US" sz="1300" dirty="0"/>
          </a:p>
          <a:p>
            <a:pPr indent="0" marL="0">
              <a:lnSpc>
                <a:spcPts val="1700"/>
              </a:lnSpc>
              <a:buNone/>
            </a:pPr>
            <a:r>
              <a:rPr lang="en-US" sz="600" dirty="0">
                <a:solidFill>
                  <a:srgbClr val="000000"/>
                </a:solidFill>
              </a:rPr>
              <a:t> </a:t>
            </a:r>
            <a:endParaRPr lang="en-US" sz="1300" dirty="0"/>
          </a:p>
          <a:p>
            <a:pPr indent="0" marL="0">
              <a:lnSpc>
                <a:spcPts val="1700"/>
              </a:lnSpc>
              <a:buNone/>
            </a:pPr>
            <a:r>
              <a:rPr lang="en-US" sz="1300" b="1" dirty="0">
                <a:solidFill>
                  <a:srgbClr val="1E2761"/>
                </a:solidFill>
                <a:latin typeface="Calibri" pitchFamily="34" charset="0"/>
                <a:ea typeface="Calibri" pitchFamily="34" charset="-122"/>
                <a:cs typeface="Calibri" pitchFamily="34" charset="-120"/>
              </a:rPr>
              <a:t>SQLite</a:t>
            </a:r>
            <a:endParaRPr lang="en-US" sz="1300" dirty="0"/>
          </a:p>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Users, conversations and feedback as relational records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04  AND WHY EACH WAS CHOSEN</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Technology stack</a:t>
            </a:r>
            <a:endParaRPr lang="en-US" sz="3400" dirty="0"/>
          </a:p>
        </p:txBody>
      </p:sp>
      <p:sp>
        <p:nvSpPr>
          <p:cNvPr id="4" name="Shape 2"/>
          <p:cNvSpPr/>
          <p:nvPr/>
        </p:nvSpPr>
        <p:spPr>
          <a:xfrm>
            <a:off x="640080" y="1645920"/>
            <a:ext cx="352044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5" name="Text 3"/>
          <p:cNvSpPr/>
          <p:nvPr/>
        </p:nvSpPr>
        <p:spPr>
          <a:xfrm>
            <a:off x="896112" y="1847088"/>
            <a:ext cx="301752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FastAPI</a:t>
            </a:r>
            <a:endParaRPr lang="en-US" sz="1450" dirty="0"/>
          </a:p>
        </p:txBody>
      </p:sp>
      <p:sp>
        <p:nvSpPr>
          <p:cNvPr id="6" name="Text 4"/>
          <p:cNvSpPr/>
          <p:nvPr/>
        </p:nvSpPr>
        <p:spPr>
          <a:xfrm>
            <a:off x="896112" y="2148840"/>
            <a:ext cx="3017520" cy="219456"/>
          </a:xfrm>
          <a:prstGeom prst="rect">
            <a:avLst/>
          </a:prstGeom>
          <a:noFill/>
          <a:ln/>
        </p:spPr>
        <p:txBody>
          <a:bodyPr wrap="square" lIns="0" tIns="0" rIns="0" bIns="0" rtlCol="0" anchor="ctr"/>
          <a:lstStyle/>
          <a:p>
            <a:pPr indent="0" marL="0">
              <a:buNone/>
            </a:pPr>
            <a:r>
              <a:rPr lang="en-US" sz="950" b="1" spc="150" kern="0" dirty="0">
                <a:solidFill>
                  <a:srgbClr val="E8A33D"/>
                </a:solidFill>
                <a:latin typeface="Calibri" pitchFamily="34" charset="0"/>
                <a:ea typeface="Calibri" pitchFamily="34" charset="-122"/>
                <a:cs typeface="Calibri" pitchFamily="34" charset="-120"/>
              </a:rPr>
              <a:t>API LAYER</a:t>
            </a:r>
            <a:endParaRPr lang="en-US" sz="950" dirty="0"/>
          </a:p>
        </p:txBody>
      </p:sp>
      <p:sp>
        <p:nvSpPr>
          <p:cNvPr id="7" name="Text 5"/>
          <p:cNvSpPr/>
          <p:nvPr/>
        </p:nvSpPr>
        <p:spPr>
          <a:xfrm>
            <a:off x="896112" y="2423160"/>
            <a:ext cx="3017520" cy="96012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Automatic Swagger docs, Pydantic validation, and dependency injection that made JWT auth reusable in one line per route.</a:t>
            </a:r>
            <a:endParaRPr lang="en-US" sz="1200" dirty="0"/>
          </a:p>
        </p:txBody>
      </p:sp>
      <p:sp>
        <p:nvSpPr>
          <p:cNvPr id="8" name="Shape 6"/>
          <p:cNvSpPr/>
          <p:nvPr/>
        </p:nvSpPr>
        <p:spPr>
          <a:xfrm>
            <a:off x="4398264" y="1645920"/>
            <a:ext cx="352044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9" name="Text 7"/>
          <p:cNvSpPr/>
          <p:nvPr/>
        </p:nvSpPr>
        <p:spPr>
          <a:xfrm>
            <a:off x="4654296" y="1847088"/>
            <a:ext cx="301752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Ollama / llama3.2</a:t>
            </a:r>
            <a:endParaRPr lang="en-US" sz="1450" dirty="0"/>
          </a:p>
        </p:txBody>
      </p:sp>
      <p:sp>
        <p:nvSpPr>
          <p:cNvPr id="10" name="Text 8"/>
          <p:cNvSpPr/>
          <p:nvPr/>
        </p:nvSpPr>
        <p:spPr>
          <a:xfrm>
            <a:off x="4654296" y="2148840"/>
            <a:ext cx="3017520" cy="219456"/>
          </a:xfrm>
          <a:prstGeom prst="rect">
            <a:avLst/>
          </a:prstGeom>
          <a:noFill/>
          <a:ln/>
        </p:spPr>
        <p:txBody>
          <a:bodyPr wrap="square" lIns="0" tIns="0" rIns="0" bIns="0" rtlCol="0" anchor="ctr"/>
          <a:lstStyle/>
          <a:p>
            <a:pPr indent="0" marL="0">
              <a:buNone/>
            </a:pPr>
            <a:r>
              <a:rPr lang="en-US" sz="950" b="1" spc="150" kern="0" dirty="0">
                <a:solidFill>
                  <a:srgbClr val="E8A33D"/>
                </a:solidFill>
                <a:latin typeface="Calibri" pitchFamily="34" charset="0"/>
                <a:ea typeface="Calibri" pitchFamily="34" charset="-122"/>
                <a:cs typeface="Calibri" pitchFamily="34" charset="-120"/>
              </a:rPr>
              <a:t>GENERATION</a:t>
            </a:r>
            <a:endParaRPr lang="en-US" sz="950" dirty="0"/>
          </a:p>
        </p:txBody>
      </p:sp>
      <p:sp>
        <p:nvSpPr>
          <p:cNvPr id="11" name="Text 9"/>
          <p:cNvSpPr/>
          <p:nvPr/>
        </p:nvSpPr>
        <p:spPr>
          <a:xfrm>
            <a:off x="4654296" y="2423160"/>
            <a:ext cx="3017520" cy="96012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Runs entirely on the local machine. No API key, no per-request cost, no external dependency.</a:t>
            </a:r>
            <a:endParaRPr lang="en-US" sz="1200" dirty="0"/>
          </a:p>
        </p:txBody>
      </p:sp>
      <p:sp>
        <p:nvSpPr>
          <p:cNvPr id="12" name="Shape 10"/>
          <p:cNvSpPr/>
          <p:nvPr/>
        </p:nvSpPr>
        <p:spPr>
          <a:xfrm>
            <a:off x="8156448" y="1645920"/>
            <a:ext cx="352044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3" name="Text 11"/>
          <p:cNvSpPr/>
          <p:nvPr/>
        </p:nvSpPr>
        <p:spPr>
          <a:xfrm>
            <a:off x="8412480" y="1847088"/>
            <a:ext cx="301752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sentence-transformers</a:t>
            </a:r>
            <a:endParaRPr lang="en-US" sz="1450" dirty="0"/>
          </a:p>
        </p:txBody>
      </p:sp>
      <p:sp>
        <p:nvSpPr>
          <p:cNvPr id="14" name="Text 12"/>
          <p:cNvSpPr/>
          <p:nvPr/>
        </p:nvSpPr>
        <p:spPr>
          <a:xfrm>
            <a:off x="8412480" y="2148840"/>
            <a:ext cx="3017520" cy="219456"/>
          </a:xfrm>
          <a:prstGeom prst="rect">
            <a:avLst/>
          </a:prstGeom>
          <a:noFill/>
          <a:ln/>
        </p:spPr>
        <p:txBody>
          <a:bodyPr wrap="square" lIns="0" tIns="0" rIns="0" bIns="0" rtlCol="0" anchor="ctr"/>
          <a:lstStyle/>
          <a:p>
            <a:pPr indent="0" marL="0">
              <a:buNone/>
            </a:pPr>
            <a:r>
              <a:rPr lang="en-US" sz="950" b="1" spc="150" kern="0" dirty="0">
                <a:solidFill>
                  <a:srgbClr val="E8A33D"/>
                </a:solidFill>
                <a:latin typeface="Calibri" pitchFamily="34" charset="0"/>
                <a:ea typeface="Calibri" pitchFamily="34" charset="-122"/>
                <a:cs typeface="Calibri" pitchFamily="34" charset="-120"/>
              </a:rPr>
              <a:t>EMBEDDINGS</a:t>
            </a:r>
            <a:endParaRPr lang="en-US" sz="950" dirty="0"/>
          </a:p>
        </p:txBody>
      </p:sp>
      <p:sp>
        <p:nvSpPr>
          <p:cNvPr id="15" name="Text 13"/>
          <p:cNvSpPr/>
          <p:nvPr/>
        </p:nvSpPr>
        <p:spPr>
          <a:xfrm>
            <a:off x="8412480" y="2423160"/>
            <a:ext cx="3017520" cy="96012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all-MiniLM-L6-v2 runs locally, loads fast, and is tuned for short-passage similarity.</a:t>
            </a:r>
            <a:endParaRPr lang="en-US" sz="1200" dirty="0"/>
          </a:p>
        </p:txBody>
      </p:sp>
      <p:sp>
        <p:nvSpPr>
          <p:cNvPr id="16" name="Shape 14"/>
          <p:cNvSpPr/>
          <p:nvPr/>
        </p:nvSpPr>
        <p:spPr>
          <a:xfrm>
            <a:off x="640080" y="3749040"/>
            <a:ext cx="352044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7" name="Text 15"/>
          <p:cNvSpPr/>
          <p:nvPr/>
        </p:nvSpPr>
        <p:spPr>
          <a:xfrm>
            <a:off x="896112" y="3950208"/>
            <a:ext cx="301752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ChromaDB</a:t>
            </a:r>
            <a:endParaRPr lang="en-US" sz="1450" dirty="0"/>
          </a:p>
        </p:txBody>
      </p:sp>
      <p:sp>
        <p:nvSpPr>
          <p:cNvPr id="18" name="Text 16"/>
          <p:cNvSpPr/>
          <p:nvPr/>
        </p:nvSpPr>
        <p:spPr>
          <a:xfrm>
            <a:off x="896112" y="4251960"/>
            <a:ext cx="3017520" cy="219456"/>
          </a:xfrm>
          <a:prstGeom prst="rect">
            <a:avLst/>
          </a:prstGeom>
          <a:noFill/>
          <a:ln/>
        </p:spPr>
        <p:txBody>
          <a:bodyPr wrap="square" lIns="0" tIns="0" rIns="0" bIns="0" rtlCol="0" anchor="ctr"/>
          <a:lstStyle/>
          <a:p>
            <a:pPr indent="0" marL="0">
              <a:buNone/>
            </a:pPr>
            <a:r>
              <a:rPr lang="en-US" sz="950" b="1" spc="150" kern="0" dirty="0">
                <a:solidFill>
                  <a:srgbClr val="E8A33D"/>
                </a:solidFill>
                <a:latin typeface="Calibri" pitchFamily="34" charset="0"/>
                <a:ea typeface="Calibri" pitchFamily="34" charset="-122"/>
                <a:cs typeface="Calibri" pitchFamily="34" charset="-120"/>
              </a:rPr>
              <a:t>VECTOR STORE</a:t>
            </a:r>
            <a:endParaRPr lang="en-US" sz="950" dirty="0"/>
          </a:p>
        </p:txBody>
      </p:sp>
      <p:sp>
        <p:nvSpPr>
          <p:cNvPr id="19" name="Text 17"/>
          <p:cNvSpPr/>
          <p:nvPr/>
        </p:nvSpPr>
        <p:spPr>
          <a:xfrm>
            <a:off x="896112" y="4526280"/>
            <a:ext cx="3017520" cy="96012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Embedded with no separate server, persists to disk, and supports the metadata filtering that enables category search.</a:t>
            </a:r>
            <a:endParaRPr lang="en-US" sz="1200" dirty="0"/>
          </a:p>
        </p:txBody>
      </p:sp>
      <p:sp>
        <p:nvSpPr>
          <p:cNvPr id="20" name="Shape 18"/>
          <p:cNvSpPr/>
          <p:nvPr/>
        </p:nvSpPr>
        <p:spPr>
          <a:xfrm>
            <a:off x="4398264" y="3749040"/>
            <a:ext cx="352044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21" name="Text 19"/>
          <p:cNvSpPr/>
          <p:nvPr/>
        </p:nvSpPr>
        <p:spPr>
          <a:xfrm>
            <a:off x="4654296" y="3950208"/>
            <a:ext cx="301752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SQLAlchemy + SQLite</a:t>
            </a:r>
            <a:endParaRPr lang="en-US" sz="1450" dirty="0"/>
          </a:p>
        </p:txBody>
      </p:sp>
      <p:sp>
        <p:nvSpPr>
          <p:cNvPr id="22" name="Text 20"/>
          <p:cNvSpPr/>
          <p:nvPr/>
        </p:nvSpPr>
        <p:spPr>
          <a:xfrm>
            <a:off x="4654296" y="4251960"/>
            <a:ext cx="3017520" cy="219456"/>
          </a:xfrm>
          <a:prstGeom prst="rect">
            <a:avLst/>
          </a:prstGeom>
          <a:noFill/>
          <a:ln/>
        </p:spPr>
        <p:txBody>
          <a:bodyPr wrap="square" lIns="0" tIns="0" rIns="0" bIns="0" rtlCol="0" anchor="ctr"/>
          <a:lstStyle/>
          <a:p>
            <a:pPr indent="0" marL="0">
              <a:buNone/>
            </a:pPr>
            <a:r>
              <a:rPr lang="en-US" sz="950" b="1" spc="150" kern="0" dirty="0">
                <a:solidFill>
                  <a:srgbClr val="E8A33D"/>
                </a:solidFill>
                <a:latin typeface="Calibri" pitchFamily="34" charset="0"/>
                <a:ea typeface="Calibri" pitchFamily="34" charset="-122"/>
                <a:cs typeface="Calibri" pitchFamily="34" charset="-120"/>
              </a:rPr>
              <a:t>RELATIONAL STORE</a:t>
            </a:r>
            <a:endParaRPr lang="en-US" sz="950" dirty="0"/>
          </a:p>
        </p:txBody>
      </p:sp>
      <p:sp>
        <p:nvSpPr>
          <p:cNvPr id="23" name="Text 21"/>
          <p:cNvSpPr/>
          <p:nvPr/>
        </p:nvSpPr>
        <p:spPr>
          <a:xfrm>
            <a:off x="4654296" y="4526280"/>
            <a:ext cx="3017520" cy="96012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Users, conversations and feedback have clear relations and need aggregate queries for analytics.</a:t>
            </a:r>
            <a:endParaRPr lang="en-US" sz="1200" dirty="0"/>
          </a:p>
        </p:txBody>
      </p:sp>
      <p:sp>
        <p:nvSpPr>
          <p:cNvPr id="24" name="Shape 22"/>
          <p:cNvSpPr/>
          <p:nvPr/>
        </p:nvSpPr>
        <p:spPr>
          <a:xfrm>
            <a:off x="8156448" y="3749040"/>
            <a:ext cx="352044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25" name="Text 23"/>
          <p:cNvSpPr/>
          <p:nvPr/>
        </p:nvSpPr>
        <p:spPr>
          <a:xfrm>
            <a:off x="8412480" y="3950208"/>
            <a:ext cx="301752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JWT, bcrypt, Docker</a:t>
            </a:r>
            <a:endParaRPr lang="en-US" sz="1450" dirty="0"/>
          </a:p>
        </p:txBody>
      </p:sp>
      <p:sp>
        <p:nvSpPr>
          <p:cNvPr id="26" name="Text 24"/>
          <p:cNvSpPr/>
          <p:nvPr/>
        </p:nvSpPr>
        <p:spPr>
          <a:xfrm>
            <a:off x="8412480" y="4251960"/>
            <a:ext cx="3017520" cy="219456"/>
          </a:xfrm>
          <a:prstGeom prst="rect">
            <a:avLst/>
          </a:prstGeom>
          <a:noFill/>
          <a:ln/>
        </p:spPr>
        <p:txBody>
          <a:bodyPr wrap="square" lIns="0" tIns="0" rIns="0" bIns="0" rtlCol="0" anchor="ctr"/>
          <a:lstStyle/>
          <a:p>
            <a:pPr indent="0" marL="0">
              <a:buNone/>
            </a:pPr>
            <a:r>
              <a:rPr lang="en-US" sz="950" b="1" spc="150" kern="0" dirty="0">
                <a:solidFill>
                  <a:srgbClr val="E8A33D"/>
                </a:solidFill>
                <a:latin typeface="Calibri" pitchFamily="34" charset="0"/>
                <a:ea typeface="Calibri" pitchFamily="34" charset="-122"/>
                <a:cs typeface="Calibri" pitchFamily="34" charset="-120"/>
              </a:rPr>
              <a:t>SECURITY &amp; DELIVERY</a:t>
            </a:r>
            <a:endParaRPr lang="en-US" sz="950" dirty="0"/>
          </a:p>
        </p:txBody>
      </p:sp>
      <p:sp>
        <p:nvSpPr>
          <p:cNvPr id="27" name="Text 25"/>
          <p:cNvSpPr/>
          <p:nvPr/>
        </p:nvSpPr>
        <p:spPr>
          <a:xfrm>
            <a:off x="8412480" y="4526280"/>
            <a:ext cx="3017520" cy="96012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Signed tokens and hashed passwords, packaged for consistent execution anywhere.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05  WHAT IT DOES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Key features</a:t>
            </a:r>
            <a:endParaRPr lang="en-US" sz="3400" dirty="0"/>
          </a:p>
        </p:txBody>
      </p:sp>
      <p:sp>
        <p:nvSpPr>
          <p:cNvPr id="4" name="Shape 2"/>
          <p:cNvSpPr/>
          <p:nvPr/>
        </p:nvSpPr>
        <p:spPr>
          <a:xfrm>
            <a:off x="640080" y="1664208"/>
            <a:ext cx="310896" cy="310896"/>
          </a:xfrm>
          <a:prstGeom prst="ellipse">
            <a:avLst/>
          </a:prstGeom>
          <a:solidFill>
            <a:srgbClr val="CADCFC"/>
          </a:solidFill>
          <a:ln/>
        </p:spPr>
      </p:sp>
      <p:sp>
        <p:nvSpPr>
          <p:cNvPr id="5" name="Shape 3"/>
          <p:cNvSpPr/>
          <p:nvPr/>
        </p:nvSpPr>
        <p:spPr>
          <a:xfrm>
            <a:off x="745236" y="1769364"/>
            <a:ext cx="100584" cy="100584"/>
          </a:xfrm>
          <a:prstGeom prst="ellipse">
            <a:avLst/>
          </a:prstGeom>
          <a:solidFill>
            <a:srgbClr val="1E2761"/>
          </a:solidFill>
          <a:ln/>
        </p:spPr>
      </p:sp>
      <p:sp>
        <p:nvSpPr>
          <p:cNvPr id="6" name="Text 4"/>
          <p:cNvSpPr/>
          <p:nvPr/>
        </p:nvSpPr>
        <p:spPr>
          <a:xfrm>
            <a:off x="1078992" y="164592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RAG question answering</a:t>
            </a:r>
            <a:endParaRPr lang="en-US" sz="1400" dirty="0"/>
          </a:p>
        </p:txBody>
      </p:sp>
      <p:sp>
        <p:nvSpPr>
          <p:cNvPr id="7" name="Text 5"/>
          <p:cNvSpPr/>
          <p:nvPr/>
        </p:nvSpPr>
        <p:spPr>
          <a:xfrm>
            <a:off x="1078992" y="1993392"/>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Answers grounded in a 20-document knowledge base across five categories.</a:t>
            </a:r>
            <a:endParaRPr lang="en-US" sz="1200" dirty="0"/>
          </a:p>
        </p:txBody>
      </p:sp>
      <p:sp>
        <p:nvSpPr>
          <p:cNvPr id="8" name="Shape 6"/>
          <p:cNvSpPr/>
          <p:nvPr/>
        </p:nvSpPr>
        <p:spPr>
          <a:xfrm>
            <a:off x="4398264" y="1664208"/>
            <a:ext cx="310896" cy="310896"/>
          </a:xfrm>
          <a:prstGeom prst="ellipse">
            <a:avLst/>
          </a:prstGeom>
          <a:solidFill>
            <a:srgbClr val="CADCFC"/>
          </a:solidFill>
          <a:ln/>
        </p:spPr>
      </p:sp>
      <p:sp>
        <p:nvSpPr>
          <p:cNvPr id="9" name="Shape 7"/>
          <p:cNvSpPr/>
          <p:nvPr/>
        </p:nvSpPr>
        <p:spPr>
          <a:xfrm>
            <a:off x="4503420" y="1769364"/>
            <a:ext cx="100584" cy="100584"/>
          </a:xfrm>
          <a:prstGeom prst="ellipse">
            <a:avLst/>
          </a:prstGeom>
          <a:solidFill>
            <a:srgbClr val="1E2761"/>
          </a:solidFill>
          <a:ln/>
        </p:spPr>
      </p:sp>
      <p:sp>
        <p:nvSpPr>
          <p:cNvPr id="10" name="Text 8"/>
          <p:cNvSpPr/>
          <p:nvPr/>
        </p:nvSpPr>
        <p:spPr>
          <a:xfrm>
            <a:off x="4837176" y="164592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Source attribution</a:t>
            </a:r>
            <a:endParaRPr lang="en-US" sz="1400" dirty="0"/>
          </a:p>
        </p:txBody>
      </p:sp>
      <p:sp>
        <p:nvSpPr>
          <p:cNvPr id="11" name="Text 9"/>
          <p:cNvSpPr/>
          <p:nvPr/>
        </p:nvSpPr>
        <p:spPr>
          <a:xfrm>
            <a:off x="4837176" y="1993392"/>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Document names, similarity scores and retrieved count on every answer.</a:t>
            </a:r>
            <a:endParaRPr lang="en-US" sz="1200" dirty="0"/>
          </a:p>
        </p:txBody>
      </p:sp>
      <p:sp>
        <p:nvSpPr>
          <p:cNvPr id="12" name="Shape 10"/>
          <p:cNvSpPr/>
          <p:nvPr/>
        </p:nvSpPr>
        <p:spPr>
          <a:xfrm>
            <a:off x="8156448" y="1664208"/>
            <a:ext cx="310896" cy="310896"/>
          </a:xfrm>
          <a:prstGeom prst="ellipse">
            <a:avLst/>
          </a:prstGeom>
          <a:solidFill>
            <a:srgbClr val="CADCFC"/>
          </a:solidFill>
          <a:ln/>
        </p:spPr>
      </p:sp>
      <p:sp>
        <p:nvSpPr>
          <p:cNvPr id="13" name="Shape 11"/>
          <p:cNvSpPr/>
          <p:nvPr/>
        </p:nvSpPr>
        <p:spPr>
          <a:xfrm>
            <a:off x="8261604" y="1769364"/>
            <a:ext cx="100584" cy="100584"/>
          </a:xfrm>
          <a:prstGeom prst="ellipse">
            <a:avLst/>
          </a:prstGeom>
          <a:solidFill>
            <a:srgbClr val="1E2761"/>
          </a:solidFill>
          <a:ln/>
        </p:spPr>
      </p:sp>
      <p:sp>
        <p:nvSpPr>
          <p:cNvPr id="14" name="Text 12"/>
          <p:cNvSpPr/>
          <p:nvPr/>
        </p:nvSpPr>
        <p:spPr>
          <a:xfrm>
            <a:off x="8595360" y="164592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Category-scoped retrieval</a:t>
            </a:r>
            <a:endParaRPr lang="en-US" sz="1400" dirty="0"/>
          </a:p>
        </p:txBody>
      </p:sp>
      <p:sp>
        <p:nvSpPr>
          <p:cNvPr id="15" name="Text 13"/>
          <p:cNvSpPr/>
          <p:nvPr/>
        </p:nvSpPr>
        <p:spPr>
          <a:xfrm>
            <a:off x="8595360" y="1993392"/>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A question can be restricted to a single knowledge domain via query parameter.</a:t>
            </a:r>
            <a:endParaRPr lang="en-US" sz="1200" dirty="0"/>
          </a:p>
        </p:txBody>
      </p:sp>
      <p:sp>
        <p:nvSpPr>
          <p:cNvPr id="16" name="Shape 14"/>
          <p:cNvSpPr/>
          <p:nvPr/>
        </p:nvSpPr>
        <p:spPr>
          <a:xfrm>
            <a:off x="640080" y="3145536"/>
            <a:ext cx="310896" cy="310896"/>
          </a:xfrm>
          <a:prstGeom prst="ellipse">
            <a:avLst/>
          </a:prstGeom>
          <a:solidFill>
            <a:srgbClr val="CADCFC"/>
          </a:solidFill>
          <a:ln/>
        </p:spPr>
      </p:sp>
      <p:sp>
        <p:nvSpPr>
          <p:cNvPr id="17" name="Shape 15"/>
          <p:cNvSpPr/>
          <p:nvPr/>
        </p:nvSpPr>
        <p:spPr>
          <a:xfrm>
            <a:off x="745236" y="3250692"/>
            <a:ext cx="100584" cy="100584"/>
          </a:xfrm>
          <a:prstGeom prst="ellipse">
            <a:avLst/>
          </a:prstGeom>
          <a:solidFill>
            <a:srgbClr val="1E2761"/>
          </a:solidFill>
          <a:ln/>
        </p:spPr>
      </p:sp>
      <p:sp>
        <p:nvSpPr>
          <p:cNvPr id="18" name="Text 16"/>
          <p:cNvSpPr/>
          <p:nvPr/>
        </p:nvSpPr>
        <p:spPr>
          <a:xfrm>
            <a:off x="1078992" y="3127248"/>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Semantic search</a:t>
            </a:r>
            <a:endParaRPr lang="en-US" sz="1400" dirty="0"/>
          </a:p>
        </p:txBody>
      </p:sp>
      <p:sp>
        <p:nvSpPr>
          <p:cNvPr id="19" name="Text 17"/>
          <p:cNvSpPr/>
          <p:nvPr/>
        </p:nvSpPr>
        <p:spPr>
          <a:xfrm>
            <a:off x="1078992" y="3474720"/>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Ranked document lookup without generating an answer.</a:t>
            </a:r>
            <a:endParaRPr lang="en-US" sz="1200" dirty="0"/>
          </a:p>
        </p:txBody>
      </p:sp>
      <p:sp>
        <p:nvSpPr>
          <p:cNvPr id="20" name="Shape 18"/>
          <p:cNvSpPr/>
          <p:nvPr/>
        </p:nvSpPr>
        <p:spPr>
          <a:xfrm>
            <a:off x="4398264" y="3145536"/>
            <a:ext cx="310896" cy="310896"/>
          </a:xfrm>
          <a:prstGeom prst="ellipse">
            <a:avLst/>
          </a:prstGeom>
          <a:solidFill>
            <a:srgbClr val="CADCFC"/>
          </a:solidFill>
          <a:ln/>
        </p:spPr>
      </p:sp>
      <p:sp>
        <p:nvSpPr>
          <p:cNvPr id="21" name="Shape 19"/>
          <p:cNvSpPr/>
          <p:nvPr/>
        </p:nvSpPr>
        <p:spPr>
          <a:xfrm>
            <a:off x="4503420" y="3250692"/>
            <a:ext cx="100584" cy="100584"/>
          </a:xfrm>
          <a:prstGeom prst="ellipse">
            <a:avLst/>
          </a:prstGeom>
          <a:solidFill>
            <a:srgbClr val="1E2761"/>
          </a:solidFill>
          <a:ln/>
        </p:spPr>
      </p:sp>
      <p:sp>
        <p:nvSpPr>
          <p:cNvPr id="22" name="Text 20"/>
          <p:cNvSpPr/>
          <p:nvPr/>
        </p:nvSpPr>
        <p:spPr>
          <a:xfrm>
            <a:off x="4837176" y="3127248"/>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JWT authentication</a:t>
            </a:r>
            <a:endParaRPr lang="en-US" sz="1400" dirty="0"/>
          </a:p>
        </p:txBody>
      </p:sp>
      <p:sp>
        <p:nvSpPr>
          <p:cNvPr id="23" name="Text 21"/>
          <p:cNvSpPr/>
          <p:nvPr/>
        </p:nvSpPr>
        <p:spPr>
          <a:xfrm>
            <a:off x="4837176" y="3474720"/>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Registration, login, and protection on ask, search, upload and delete.</a:t>
            </a:r>
            <a:endParaRPr lang="en-US" sz="1200" dirty="0"/>
          </a:p>
        </p:txBody>
      </p:sp>
      <p:sp>
        <p:nvSpPr>
          <p:cNvPr id="24" name="Shape 22"/>
          <p:cNvSpPr/>
          <p:nvPr/>
        </p:nvSpPr>
        <p:spPr>
          <a:xfrm>
            <a:off x="8156448" y="3145536"/>
            <a:ext cx="310896" cy="310896"/>
          </a:xfrm>
          <a:prstGeom prst="ellipse">
            <a:avLst/>
          </a:prstGeom>
          <a:solidFill>
            <a:srgbClr val="CADCFC"/>
          </a:solidFill>
          <a:ln/>
        </p:spPr>
      </p:sp>
      <p:sp>
        <p:nvSpPr>
          <p:cNvPr id="25" name="Shape 23"/>
          <p:cNvSpPr/>
          <p:nvPr/>
        </p:nvSpPr>
        <p:spPr>
          <a:xfrm>
            <a:off x="8261604" y="3250692"/>
            <a:ext cx="100584" cy="100584"/>
          </a:xfrm>
          <a:prstGeom prst="ellipse">
            <a:avLst/>
          </a:prstGeom>
          <a:solidFill>
            <a:srgbClr val="1E2761"/>
          </a:solidFill>
          <a:ln/>
        </p:spPr>
      </p:sp>
      <p:sp>
        <p:nvSpPr>
          <p:cNvPr id="26" name="Text 24"/>
          <p:cNvSpPr/>
          <p:nvPr/>
        </p:nvSpPr>
        <p:spPr>
          <a:xfrm>
            <a:off x="8595360" y="3127248"/>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Conversation history</a:t>
            </a:r>
            <a:endParaRPr lang="en-US" sz="1400" dirty="0"/>
          </a:p>
        </p:txBody>
      </p:sp>
      <p:sp>
        <p:nvSpPr>
          <p:cNvPr id="27" name="Text 25"/>
          <p:cNvSpPr/>
          <p:nvPr/>
        </p:nvSpPr>
        <p:spPr>
          <a:xfrm>
            <a:off x="8595360" y="3474720"/>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Every question and answer persisted per user and queryable.</a:t>
            </a:r>
            <a:endParaRPr lang="en-US" sz="1200" dirty="0"/>
          </a:p>
        </p:txBody>
      </p:sp>
      <p:sp>
        <p:nvSpPr>
          <p:cNvPr id="28" name="Shape 26"/>
          <p:cNvSpPr/>
          <p:nvPr/>
        </p:nvSpPr>
        <p:spPr>
          <a:xfrm>
            <a:off x="640080" y="4626864"/>
            <a:ext cx="310896" cy="310896"/>
          </a:xfrm>
          <a:prstGeom prst="ellipse">
            <a:avLst/>
          </a:prstGeom>
          <a:solidFill>
            <a:srgbClr val="CADCFC"/>
          </a:solidFill>
          <a:ln/>
        </p:spPr>
      </p:sp>
      <p:sp>
        <p:nvSpPr>
          <p:cNvPr id="29" name="Shape 27"/>
          <p:cNvSpPr/>
          <p:nvPr/>
        </p:nvSpPr>
        <p:spPr>
          <a:xfrm>
            <a:off x="745236" y="4732020"/>
            <a:ext cx="100584" cy="100584"/>
          </a:xfrm>
          <a:prstGeom prst="ellipse">
            <a:avLst/>
          </a:prstGeom>
          <a:solidFill>
            <a:srgbClr val="1E2761"/>
          </a:solidFill>
          <a:ln/>
        </p:spPr>
      </p:sp>
      <p:sp>
        <p:nvSpPr>
          <p:cNvPr id="30" name="Text 28"/>
          <p:cNvSpPr/>
          <p:nvPr/>
        </p:nvSpPr>
        <p:spPr>
          <a:xfrm>
            <a:off x="1078992" y="4608576"/>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Feedback collection</a:t>
            </a:r>
            <a:endParaRPr lang="en-US" sz="1400" dirty="0"/>
          </a:p>
        </p:txBody>
      </p:sp>
      <p:sp>
        <p:nvSpPr>
          <p:cNvPr id="31" name="Text 29"/>
          <p:cNvSpPr/>
          <p:nvPr/>
        </p:nvSpPr>
        <p:spPr>
          <a:xfrm>
            <a:off x="1078992" y="4956048"/>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One-to-five ratings with optional comments, linked to the original response.</a:t>
            </a:r>
            <a:endParaRPr lang="en-US" sz="1200" dirty="0"/>
          </a:p>
        </p:txBody>
      </p:sp>
      <p:sp>
        <p:nvSpPr>
          <p:cNvPr id="32" name="Shape 30"/>
          <p:cNvSpPr/>
          <p:nvPr/>
        </p:nvSpPr>
        <p:spPr>
          <a:xfrm>
            <a:off x="4398264" y="4626864"/>
            <a:ext cx="310896" cy="310896"/>
          </a:xfrm>
          <a:prstGeom prst="ellipse">
            <a:avLst/>
          </a:prstGeom>
          <a:solidFill>
            <a:srgbClr val="CADCFC"/>
          </a:solidFill>
          <a:ln/>
        </p:spPr>
      </p:sp>
      <p:sp>
        <p:nvSpPr>
          <p:cNvPr id="33" name="Shape 31"/>
          <p:cNvSpPr/>
          <p:nvPr/>
        </p:nvSpPr>
        <p:spPr>
          <a:xfrm>
            <a:off x="4503420" y="4732020"/>
            <a:ext cx="100584" cy="100584"/>
          </a:xfrm>
          <a:prstGeom prst="ellipse">
            <a:avLst/>
          </a:prstGeom>
          <a:solidFill>
            <a:srgbClr val="1E2761"/>
          </a:solidFill>
          <a:ln/>
        </p:spPr>
      </p:sp>
      <p:sp>
        <p:nvSpPr>
          <p:cNvPr id="34" name="Text 32"/>
          <p:cNvSpPr/>
          <p:nvPr/>
        </p:nvSpPr>
        <p:spPr>
          <a:xfrm>
            <a:off x="4837176" y="4608576"/>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Usage analytics</a:t>
            </a:r>
            <a:endParaRPr lang="en-US" sz="1400" dirty="0"/>
          </a:p>
        </p:txBody>
      </p:sp>
      <p:sp>
        <p:nvSpPr>
          <p:cNvPr id="35" name="Text 33"/>
          <p:cNvSpPr/>
          <p:nvPr/>
        </p:nvSpPr>
        <p:spPr>
          <a:xfrm>
            <a:off x="4837176" y="4956048"/>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Total requests, average response time, top category, average rating.</a:t>
            </a:r>
            <a:endParaRPr lang="en-US" sz="1200" dirty="0"/>
          </a:p>
        </p:txBody>
      </p:sp>
      <p:sp>
        <p:nvSpPr>
          <p:cNvPr id="36" name="Shape 34"/>
          <p:cNvSpPr/>
          <p:nvPr/>
        </p:nvSpPr>
        <p:spPr>
          <a:xfrm>
            <a:off x="8156448" y="4626864"/>
            <a:ext cx="310896" cy="310896"/>
          </a:xfrm>
          <a:prstGeom prst="ellipse">
            <a:avLst/>
          </a:prstGeom>
          <a:solidFill>
            <a:srgbClr val="CADCFC"/>
          </a:solidFill>
          <a:ln/>
        </p:spPr>
      </p:sp>
      <p:sp>
        <p:nvSpPr>
          <p:cNvPr id="37" name="Shape 35"/>
          <p:cNvSpPr/>
          <p:nvPr/>
        </p:nvSpPr>
        <p:spPr>
          <a:xfrm>
            <a:off x="8261604" y="4732020"/>
            <a:ext cx="100584" cy="100584"/>
          </a:xfrm>
          <a:prstGeom prst="ellipse">
            <a:avLst/>
          </a:prstGeom>
          <a:solidFill>
            <a:srgbClr val="1E2761"/>
          </a:solidFill>
          <a:ln/>
        </p:spPr>
      </p:sp>
      <p:sp>
        <p:nvSpPr>
          <p:cNvPr id="38" name="Text 36"/>
          <p:cNvSpPr/>
          <p:nvPr/>
        </p:nvSpPr>
        <p:spPr>
          <a:xfrm>
            <a:off x="8595360" y="4608576"/>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Document management</a:t>
            </a:r>
            <a:endParaRPr lang="en-US" sz="1400" dirty="0"/>
          </a:p>
        </p:txBody>
      </p:sp>
      <p:sp>
        <p:nvSpPr>
          <p:cNvPr id="39" name="Text 37"/>
          <p:cNvSpPr/>
          <p:nvPr/>
        </p:nvSpPr>
        <p:spPr>
          <a:xfrm>
            <a:off x="8595360" y="4956048"/>
            <a:ext cx="3063240" cy="82296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Upload with automatic indexing, delete from disk and vector store together.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06  A MEASURED DECISION</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Choosing retrieval depth</a:t>
            </a:r>
            <a:endParaRPr lang="en-US" sz="3400" dirty="0"/>
          </a:p>
        </p:txBody>
      </p:sp>
      <p:sp>
        <p:nvSpPr>
          <p:cNvPr id="4" name="Text 2"/>
          <p:cNvSpPr/>
          <p:nvPr/>
        </p:nvSpPr>
        <p:spPr>
          <a:xfrm>
            <a:off x="640080" y="1572768"/>
            <a:ext cx="10881360" cy="292608"/>
          </a:xfrm>
          <a:prstGeom prst="rect">
            <a:avLst/>
          </a:prstGeom>
          <a:noFill/>
          <a:ln/>
        </p:spPr>
        <p:txBody>
          <a:bodyPr wrap="square" lIns="0" tIns="0" rIns="0" bIns="0" rtlCol="0" anchor="ctr"/>
          <a:lstStyle/>
          <a:p>
            <a:pPr indent="0" marL="0">
              <a:buNone/>
            </a:pPr>
            <a:r>
              <a:rPr lang="en-US" sz="1400" dirty="0">
                <a:solidFill>
                  <a:srgbClr val="4A5568"/>
                </a:solidFill>
                <a:latin typeface="Calibri" pitchFamily="34" charset="0"/>
                <a:ea typeface="Calibri" pitchFamily="34" charset="-122"/>
                <a:cs typeface="Calibri" pitchFamily="34" charset="-120"/>
              </a:rPr>
              <a:t>Same question, three retrieval depths. The default was selected by comparison, not assumption.</a:t>
            </a:r>
            <a:endParaRPr lang="en-US" sz="1400" dirty="0"/>
          </a:p>
        </p:txBody>
      </p:sp>
      <p:sp>
        <p:nvSpPr>
          <p:cNvPr id="5" name="Text 3"/>
          <p:cNvSpPr/>
          <p:nvPr/>
        </p:nvSpPr>
        <p:spPr>
          <a:xfrm>
            <a:off x="640080" y="1938528"/>
            <a:ext cx="10881360" cy="310896"/>
          </a:xfrm>
          <a:prstGeom prst="rect">
            <a:avLst/>
          </a:prstGeom>
          <a:noFill/>
          <a:ln/>
        </p:spPr>
        <p:txBody>
          <a:bodyPr wrap="square" lIns="0" tIns="0" rIns="0" bIns="0"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“What tools are commonly used in a Python backend project?”</a:t>
            </a:r>
            <a:endParaRPr lang="en-US" sz="1500" dirty="0"/>
          </a:p>
        </p:txBody>
      </p:sp>
      <p:sp>
        <p:nvSpPr>
          <p:cNvPr id="6" name="Shape 4"/>
          <p:cNvSpPr/>
          <p:nvPr/>
        </p:nvSpPr>
        <p:spPr>
          <a:xfrm>
            <a:off x="640080" y="2514600"/>
            <a:ext cx="3520440" cy="2651760"/>
          </a:xfrm>
          <a:prstGeom prst="roundRect">
            <a:avLst>
              <a:gd name="adj" fmla="val 3448"/>
            </a:avLst>
          </a:prstGeom>
          <a:solidFill>
            <a:srgbClr val="FFFFFF"/>
          </a:solidFill>
          <a:ln w="15875">
            <a:solidFill>
              <a:srgbClr val="D6DEE9"/>
            </a:solidFill>
            <a:prstDash val="solid"/>
          </a:ln>
          <a:effectLst>
            <a:outerShdw sx="100000" sy="100000" kx="0" ky="0" algn="bl" rotWithShape="0" blurRad="127000" dist="25400" dir="5400000">
              <a:srgbClr val="8894A8">
                <a:alpha val="20000"/>
              </a:srgbClr>
            </a:outerShdw>
          </a:effectLst>
        </p:spPr>
      </p:sp>
      <p:sp>
        <p:nvSpPr>
          <p:cNvPr id="7" name="Text 5"/>
          <p:cNvSpPr/>
          <p:nvPr/>
        </p:nvSpPr>
        <p:spPr>
          <a:xfrm>
            <a:off x="914400" y="2724912"/>
            <a:ext cx="2971800" cy="384048"/>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Top 1</a:t>
            </a:r>
            <a:endParaRPr lang="en-US" sz="2400" dirty="0"/>
          </a:p>
        </p:txBody>
      </p:sp>
      <p:sp>
        <p:nvSpPr>
          <p:cNvPr id="8" name="Text 6"/>
          <p:cNvSpPr/>
          <p:nvPr/>
        </p:nvSpPr>
        <p:spPr>
          <a:xfrm>
            <a:off x="914400" y="3154680"/>
            <a:ext cx="2971800" cy="457200"/>
          </a:xfrm>
          <a:prstGeom prst="rect">
            <a:avLst/>
          </a:prstGeom>
          <a:noFill/>
          <a:ln/>
        </p:spPr>
        <p:txBody>
          <a:bodyPr wrap="square" lIns="0" tIns="0" rIns="0" bIns="0" rtlCol="0" anchor="ctr"/>
          <a:lstStyle/>
          <a:p>
            <a:pPr indent="0" marL="0">
              <a:lnSpc>
                <a:spcPts val="1500"/>
              </a:lnSpc>
              <a:buNone/>
            </a:pPr>
            <a:r>
              <a:rPr lang="en-US" sz="1150" dirty="0">
                <a:solidFill>
                  <a:srgbClr val="8A94A6"/>
                </a:solidFill>
                <a:latin typeface="Calibri" pitchFamily="34" charset="0"/>
                <a:ea typeface="Calibri" pitchFamily="34" charset="-122"/>
                <a:cs typeface="Calibri" pitchFamily="34" charset="-120"/>
              </a:rPr>
              <a:t>python.txt only</a:t>
            </a:r>
            <a:endParaRPr lang="en-US" sz="1150" dirty="0"/>
          </a:p>
        </p:txBody>
      </p:sp>
      <p:sp>
        <p:nvSpPr>
          <p:cNvPr id="9" name="Text 7"/>
          <p:cNvSpPr/>
          <p:nvPr/>
        </p:nvSpPr>
        <p:spPr>
          <a:xfrm>
            <a:off x="914400" y="3675888"/>
            <a:ext cx="297180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Declined to answer. The single document never names specific tools.</a:t>
            </a:r>
            <a:endParaRPr lang="en-US" sz="1250" dirty="0"/>
          </a:p>
        </p:txBody>
      </p:sp>
      <p:sp>
        <p:nvSpPr>
          <p:cNvPr id="10" name="Text 8"/>
          <p:cNvSpPr/>
          <p:nvPr/>
        </p:nvSpPr>
        <p:spPr>
          <a:xfrm>
            <a:off x="914400" y="4681728"/>
            <a:ext cx="2971800" cy="274320"/>
          </a:xfrm>
          <a:prstGeom prst="rect">
            <a:avLst/>
          </a:prstGeom>
          <a:noFill/>
          <a:ln/>
        </p:spPr>
        <p:txBody>
          <a:bodyPr wrap="square" lIns="0" tIns="0" rIns="0" bIns="0" rtlCol="0" anchor="ctr"/>
          <a:lstStyle/>
          <a:p>
            <a:pPr indent="0" marL="0">
              <a:buNone/>
            </a:pPr>
            <a:r>
              <a:rPr lang="en-US" sz="1000" b="1" spc="150" kern="0" dirty="0">
                <a:solidFill>
                  <a:srgbClr val="8A94A6"/>
                </a:solidFill>
                <a:latin typeface="Calibri" pitchFamily="34" charset="0"/>
                <a:ea typeface="Calibri" pitchFamily="34" charset="-122"/>
                <a:cs typeface="Calibri" pitchFamily="34" charset="-120"/>
              </a:rPr>
              <a:t>TOO NARROW</a:t>
            </a:r>
            <a:endParaRPr lang="en-US" sz="1000" dirty="0"/>
          </a:p>
        </p:txBody>
      </p:sp>
      <p:sp>
        <p:nvSpPr>
          <p:cNvPr id="11" name="Shape 9"/>
          <p:cNvSpPr/>
          <p:nvPr/>
        </p:nvSpPr>
        <p:spPr>
          <a:xfrm>
            <a:off x="4398264" y="2514600"/>
            <a:ext cx="3520440" cy="2651760"/>
          </a:xfrm>
          <a:prstGeom prst="roundRect">
            <a:avLst>
              <a:gd name="adj" fmla="val 3448"/>
            </a:avLst>
          </a:prstGeom>
          <a:solidFill>
            <a:srgbClr val="1E2761"/>
          </a:solidFill>
          <a:ln w="12700">
            <a:solidFill>
              <a:srgbClr val="1E2761"/>
            </a:solidFill>
            <a:prstDash val="solid"/>
          </a:ln>
          <a:effectLst>
            <a:outerShdw sx="100000" sy="100000" kx="0" ky="0" algn="bl" rotWithShape="0" blurRad="127000" dist="50800" dir="5400000">
              <a:srgbClr val="8894A8">
                <a:alpha val="35000"/>
              </a:srgbClr>
            </a:outerShdw>
          </a:effectLst>
        </p:spPr>
      </p:sp>
      <p:sp>
        <p:nvSpPr>
          <p:cNvPr id="12" name="Text 10"/>
          <p:cNvSpPr/>
          <p:nvPr/>
        </p:nvSpPr>
        <p:spPr>
          <a:xfrm>
            <a:off x="4672584" y="2724912"/>
            <a:ext cx="29718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Top 3</a:t>
            </a:r>
            <a:endParaRPr lang="en-US" sz="2400" dirty="0"/>
          </a:p>
        </p:txBody>
      </p:sp>
      <p:sp>
        <p:nvSpPr>
          <p:cNvPr id="13" name="Text 11"/>
          <p:cNvSpPr/>
          <p:nvPr/>
        </p:nvSpPr>
        <p:spPr>
          <a:xfrm>
            <a:off x="4672584" y="3154680"/>
            <a:ext cx="2971800" cy="45720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python, sqlalchemy, fastapi</a:t>
            </a:r>
            <a:endParaRPr lang="en-US" sz="1150" dirty="0"/>
          </a:p>
        </p:txBody>
      </p:sp>
      <p:sp>
        <p:nvSpPr>
          <p:cNvPr id="14" name="Text 12"/>
          <p:cNvSpPr/>
          <p:nvPr/>
        </p:nvSpPr>
        <p:spPr>
          <a:xfrm>
            <a:off x="4672584" y="3675888"/>
            <a:ext cx="2971800" cy="91440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Correctly identified SQLAlchemy and FastAPI, grounded in the retrieved text.</a:t>
            </a:r>
            <a:endParaRPr lang="en-US" sz="1250" dirty="0"/>
          </a:p>
        </p:txBody>
      </p:sp>
      <p:sp>
        <p:nvSpPr>
          <p:cNvPr id="15" name="Text 13"/>
          <p:cNvSpPr/>
          <p:nvPr/>
        </p:nvSpPr>
        <p:spPr>
          <a:xfrm>
            <a:off x="4672584" y="4681728"/>
            <a:ext cx="2971800" cy="274320"/>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SELECTED</a:t>
            </a:r>
            <a:endParaRPr lang="en-US" sz="1000" dirty="0"/>
          </a:p>
        </p:txBody>
      </p:sp>
      <p:sp>
        <p:nvSpPr>
          <p:cNvPr id="16" name="Shape 14"/>
          <p:cNvSpPr/>
          <p:nvPr/>
        </p:nvSpPr>
        <p:spPr>
          <a:xfrm>
            <a:off x="8156448" y="2514600"/>
            <a:ext cx="3520440" cy="2651760"/>
          </a:xfrm>
          <a:prstGeom prst="roundRect">
            <a:avLst>
              <a:gd name="adj" fmla="val 3448"/>
            </a:avLst>
          </a:prstGeom>
          <a:solidFill>
            <a:srgbClr val="FFFFFF"/>
          </a:solidFill>
          <a:ln w="15875">
            <a:solidFill>
              <a:srgbClr val="D6DEE9"/>
            </a:solidFill>
            <a:prstDash val="solid"/>
          </a:ln>
          <a:effectLst>
            <a:outerShdw sx="100000" sy="100000" kx="0" ky="0" algn="bl" rotWithShape="0" blurRad="127000" dist="25400" dir="5400000">
              <a:srgbClr val="8894A8">
                <a:alpha val="20000"/>
              </a:srgbClr>
            </a:outerShdw>
          </a:effectLst>
        </p:spPr>
      </p:sp>
      <p:sp>
        <p:nvSpPr>
          <p:cNvPr id="17" name="Text 15"/>
          <p:cNvSpPr/>
          <p:nvPr/>
        </p:nvSpPr>
        <p:spPr>
          <a:xfrm>
            <a:off x="8430768" y="2724912"/>
            <a:ext cx="2971800" cy="384048"/>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Top 5</a:t>
            </a:r>
            <a:endParaRPr lang="en-US" sz="2400" dirty="0"/>
          </a:p>
        </p:txBody>
      </p:sp>
      <p:sp>
        <p:nvSpPr>
          <p:cNvPr id="18" name="Text 16"/>
          <p:cNvSpPr/>
          <p:nvPr/>
        </p:nvSpPr>
        <p:spPr>
          <a:xfrm>
            <a:off x="8430768" y="3154680"/>
            <a:ext cx="2971800" cy="457200"/>
          </a:xfrm>
          <a:prstGeom prst="rect">
            <a:avLst/>
          </a:prstGeom>
          <a:noFill/>
          <a:ln/>
        </p:spPr>
        <p:txBody>
          <a:bodyPr wrap="square" lIns="0" tIns="0" rIns="0" bIns="0" rtlCol="0" anchor="ctr"/>
          <a:lstStyle/>
          <a:p>
            <a:pPr indent="0" marL="0">
              <a:lnSpc>
                <a:spcPts val="1500"/>
              </a:lnSpc>
              <a:buNone/>
            </a:pPr>
            <a:r>
              <a:rPr lang="en-US" sz="1150" dirty="0">
                <a:solidFill>
                  <a:srgbClr val="8A94A6"/>
                </a:solidFill>
                <a:latin typeface="Calibri" pitchFamily="34" charset="0"/>
                <a:ea typeface="Calibri" pitchFamily="34" charset="-122"/>
                <a:cs typeface="Calibri" pitchFamily="34" charset="-120"/>
              </a:rPr>
              <a:t>adds pandas, numpy</a:t>
            </a:r>
            <a:endParaRPr lang="en-US" sz="1150" dirty="0"/>
          </a:p>
        </p:txBody>
      </p:sp>
      <p:sp>
        <p:nvSpPr>
          <p:cNvPr id="19" name="Text 17"/>
          <p:cNvSpPr/>
          <p:nvPr/>
        </p:nvSpPr>
        <p:spPr>
          <a:xfrm>
            <a:off x="8430768" y="3675888"/>
            <a:ext cx="297180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Broader list, but precision slipped: SQL was listed as a separate tool.</a:t>
            </a:r>
            <a:endParaRPr lang="en-US" sz="1250" dirty="0"/>
          </a:p>
        </p:txBody>
      </p:sp>
      <p:sp>
        <p:nvSpPr>
          <p:cNvPr id="20" name="Text 18"/>
          <p:cNvSpPr/>
          <p:nvPr/>
        </p:nvSpPr>
        <p:spPr>
          <a:xfrm>
            <a:off x="8430768" y="4681728"/>
            <a:ext cx="2971800" cy="274320"/>
          </a:xfrm>
          <a:prstGeom prst="rect">
            <a:avLst/>
          </a:prstGeom>
          <a:noFill/>
          <a:ln/>
        </p:spPr>
        <p:txBody>
          <a:bodyPr wrap="square" lIns="0" tIns="0" rIns="0" bIns="0" rtlCol="0" anchor="ctr"/>
          <a:lstStyle/>
          <a:p>
            <a:pPr indent="0" marL="0">
              <a:buNone/>
            </a:pPr>
            <a:r>
              <a:rPr lang="en-US" sz="1000" b="1" spc="150" kern="0" dirty="0">
                <a:solidFill>
                  <a:srgbClr val="8A94A6"/>
                </a:solidFill>
                <a:latin typeface="Calibri" pitchFamily="34" charset="0"/>
                <a:ea typeface="Calibri" pitchFamily="34" charset="-122"/>
                <a:cs typeface="Calibri" pitchFamily="34" charset="-120"/>
              </a:rPr>
              <a:t>NOISE CREEPS IN</a:t>
            </a:r>
            <a:endParaRPr lang="en-US" sz="1000" dirty="0"/>
          </a:p>
        </p:txBody>
      </p:sp>
      <p:sp>
        <p:nvSpPr>
          <p:cNvPr id="21" name="Text 19"/>
          <p:cNvSpPr/>
          <p:nvPr/>
        </p:nvSpPr>
        <p:spPr>
          <a:xfrm>
            <a:off x="640080" y="5394960"/>
            <a:ext cx="10881360" cy="320040"/>
          </a:xfrm>
          <a:prstGeom prst="rect">
            <a:avLst/>
          </a:prstGeom>
          <a:noFill/>
          <a:ln/>
        </p:spPr>
        <p:txBody>
          <a:bodyPr wrap="square" lIns="0" tIns="0" rIns="0" bIns="0" rtlCol="0" anchor="ctr"/>
          <a:lstStyle/>
          <a:p>
            <a:pPr indent="0" marL="0">
              <a:buNone/>
            </a:pPr>
            <a:r>
              <a:rPr lang="en-US" sz="1350" i="1" dirty="0">
                <a:solidFill>
                  <a:srgbClr val="1E2761"/>
                </a:solidFill>
                <a:latin typeface="Calibri" pitchFamily="34" charset="0"/>
                <a:ea typeface="Calibri" pitchFamily="34" charset="-122"/>
                <a:cs typeface="Calibri" pitchFamily="34" charset="-120"/>
              </a:rPr>
              <a:t>More context is not automatically better context. Top 3 became the default for both the ask and chat endpoints.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149840" y="-1097280"/>
            <a:ext cx="4023360" cy="4023360"/>
          </a:xfrm>
          <a:prstGeom prst="ellipse">
            <a:avLst/>
          </a:prstGeom>
          <a:solidFill>
            <a:srgbClr val="2E3B7A"/>
          </a:solidFill>
          <a:ln/>
        </p:spPr>
      </p:sp>
      <p:sp>
        <p:nvSpPr>
          <p:cNvPr id="3" name="Text 1"/>
          <p:cNvSpPr/>
          <p:nvPr/>
        </p:nvSpPr>
        <p:spPr>
          <a:xfrm>
            <a:off x="822960" y="7772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07  LIVE DEMONSTRATION</a:t>
            </a:r>
            <a:endParaRPr lang="en-US" sz="1200" dirty="0"/>
          </a:p>
        </p:txBody>
      </p:sp>
      <p:sp>
        <p:nvSpPr>
          <p:cNvPr id="4" name="Text 2"/>
          <p:cNvSpPr/>
          <p:nvPr/>
        </p:nvSpPr>
        <p:spPr>
          <a:xfrm>
            <a:off x="822960" y="114300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Let's see it run</a:t>
            </a:r>
            <a:endParaRPr lang="en-US" sz="3600" dirty="0"/>
          </a:p>
        </p:txBody>
      </p:sp>
      <p:sp>
        <p:nvSpPr>
          <p:cNvPr id="5" name="Shape 3"/>
          <p:cNvSpPr/>
          <p:nvPr/>
        </p:nvSpPr>
        <p:spPr>
          <a:xfrm>
            <a:off x="822960" y="2286000"/>
            <a:ext cx="365760" cy="365760"/>
          </a:xfrm>
          <a:prstGeom prst="ellipse">
            <a:avLst/>
          </a:prstGeom>
          <a:solidFill>
            <a:srgbClr val="E8A33D"/>
          </a:solidFill>
          <a:ln/>
        </p:spPr>
      </p:sp>
      <p:sp>
        <p:nvSpPr>
          <p:cNvPr id="6" name="Text 4"/>
          <p:cNvSpPr/>
          <p:nvPr/>
        </p:nvSpPr>
        <p:spPr>
          <a:xfrm>
            <a:off x="822960" y="2286000"/>
            <a:ext cx="3657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53312" y="2267712"/>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Start up</a:t>
            </a:r>
            <a:endParaRPr lang="en-US" sz="1500" dirty="0"/>
          </a:p>
        </p:txBody>
      </p:sp>
      <p:sp>
        <p:nvSpPr>
          <p:cNvPr id="8" name="Text 6"/>
          <p:cNvSpPr/>
          <p:nvPr/>
        </p:nvSpPr>
        <p:spPr>
          <a:xfrm>
            <a:off x="1353312" y="2569464"/>
            <a:ext cx="4480560" cy="50292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Ollama and the API server, Swagger UI at /docs</a:t>
            </a:r>
            <a:endParaRPr lang="en-US" sz="1200" dirty="0"/>
          </a:p>
        </p:txBody>
      </p:sp>
      <p:sp>
        <p:nvSpPr>
          <p:cNvPr id="9" name="Shape 7"/>
          <p:cNvSpPr/>
          <p:nvPr/>
        </p:nvSpPr>
        <p:spPr>
          <a:xfrm>
            <a:off x="6309360" y="2286000"/>
            <a:ext cx="365760" cy="365760"/>
          </a:xfrm>
          <a:prstGeom prst="ellipse">
            <a:avLst/>
          </a:prstGeom>
          <a:solidFill>
            <a:srgbClr val="E8A33D"/>
          </a:solidFill>
          <a:ln/>
        </p:spPr>
      </p:sp>
      <p:sp>
        <p:nvSpPr>
          <p:cNvPr id="10" name="Text 8"/>
          <p:cNvSpPr/>
          <p:nvPr/>
        </p:nvSpPr>
        <p:spPr>
          <a:xfrm>
            <a:off x="6309360" y="2286000"/>
            <a:ext cx="3657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6839712" y="2267712"/>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Authenticate</a:t>
            </a:r>
            <a:endParaRPr lang="en-US" sz="1500" dirty="0"/>
          </a:p>
        </p:txBody>
      </p:sp>
      <p:sp>
        <p:nvSpPr>
          <p:cNvPr id="12" name="Text 10"/>
          <p:cNvSpPr/>
          <p:nvPr/>
        </p:nvSpPr>
        <p:spPr>
          <a:xfrm>
            <a:off x="6839712" y="2569464"/>
            <a:ext cx="4480560" cy="50292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Register and log in, receive a JWT access token</a:t>
            </a:r>
            <a:endParaRPr lang="en-US" sz="1200" dirty="0"/>
          </a:p>
        </p:txBody>
      </p:sp>
      <p:sp>
        <p:nvSpPr>
          <p:cNvPr id="13" name="Shape 11"/>
          <p:cNvSpPr/>
          <p:nvPr/>
        </p:nvSpPr>
        <p:spPr>
          <a:xfrm>
            <a:off x="822960" y="3456432"/>
            <a:ext cx="365760" cy="365760"/>
          </a:xfrm>
          <a:prstGeom prst="ellipse">
            <a:avLst/>
          </a:prstGeom>
          <a:solidFill>
            <a:srgbClr val="E8A33D"/>
          </a:solidFill>
          <a:ln/>
        </p:spPr>
      </p:sp>
      <p:sp>
        <p:nvSpPr>
          <p:cNvPr id="14" name="Text 12"/>
          <p:cNvSpPr/>
          <p:nvPr/>
        </p:nvSpPr>
        <p:spPr>
          <a:xfrm>
            <a:off x="822960" y="3456432"/>
            <a:ext cx="3657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353312" y="3438144"/>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Ask a question</a:t>
            </a:r>
            <a:endParaRPr lang="en-US" sz="1500" dirty="0"/>
          </a:p>
        </p:txBody>
      </p:sp>
      <p:sp>
        <p:nvSpPr>
          <p:cNvPr id="16" name="Text 14"/>
          <p:cNvSpPr/>
          <p:nvPr/>
        </p:nvSpPr>
        <p:spPr>
          <a:xfrm>
            <a:off x="1353312" y="3739896"/>
            <a:ext cx="4480560" cy="50292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Answer returned with three sources and similarity scores</a:t>
            </a:r>
            <a:endParaRPr lang="en-US" sz="1200" dirty="0"/>
          </a:p>
        </p:txBody>
      </p:sp>
      <p:sp>
        <p:nvSpPr>
          <p:cNvPr id="17" name="Shape 15"/>
          <p:cNvSpPr/>
          <p:nvPr/>
        </p:nvSpPr>
        <p:spPr>
          <a:xfrm>
            <a:off x="6309360" y="3456432"/>
            <a:ext cx="365760" cy="365760"/>
          </a:xfrm>
          <a:prstGeom prst="ellipse">
            <a:avLst/>
          </a:prstGeom>
          <a:solidFill>
            <a:srgbClr val="E8A33D"/>
          </a:solidFill>
          <a:ln/>
        </p:spPr>
      </p:sp>
      <p:sp>
        <p:nvSpPr>
          <p:cNvPr id="18" name="Text 16"/>
          <p:cNvSpPr/>
          <p:nvPr/>
        </p:nvSpPr>
        <p:spPr>
          <a:xfrm>
            <a:off x="6309360" y="3456432"/>
            <a:ext cx="3657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6839712" y="3438144"/>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Scope by category</a:t>
            </a:r>
            <a:endParaRPr lang="en-US" sz="1500" dirty="0"/>
          </a:p>
        </p:txBody>
      </p:sp>
      <p:sp>
        <p:nvSpPr>
          <p:cNvPr id="20" name="Text 18"/>
          <p:cNvSpPr/>
          <p:nvPr/>
        </p:nvSpPr>
        <p:spPr>
          <a:xfrm>
            <a:off x="6839712" y="3739896"/>
            <a:ext cx="4480560" cy="50292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Same style of question restricted to the technical domain</a:t>
            </a:r>
            <a:endParaRPr lang="en-US" sz="1200" dirty="0"/>
          </a:p>
        </p:txBody>
      </p:sp>
      <p:sp>
        <p:nvSpPr>
          <p:cNvPr id="21" name="Shape 19"/>
          <p:cNvSpPr/>
          <p:nvPr/>
        </p:nvSpPr>
        <p:spPr>
          <a:xfrm>
            <a:off x="822960" y="4626864"/>
            <a:ext cx="365760" cy="365760"/>
          </a:xfrm>
          <a:prstGeom prst="ellipse">
            <a:avLst/>
          </a:prstGeom>
          <a:solidFill>
            <a:srgbClr val="E8A33D"/>
          </a:solidFill>
          <a:ln/>
        </p:spPr>
      </p:sp>
      <p:sp>
        <p:nvSpPr>
          <p:cNvPr id="22" name="Text 20"/>
          <p:cNvSpPr/>
          <p:nvPr/>
        </p:nvSpPr>
        <p:spPr>
          <a:xfrm>
            <a:off x="822960" y="4626864"/>
            <a:ext cx="3657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353312" y="4608576"/>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Upload a document</a:t>
            </a:r>
            <a:endParaRPr lang="en-US" sz="1500" dirty="0"/>
          </a:p>
        </p:txBody>
      </p:sp>
      <p:sp>
        <p:nvSpPr>
          <p:cNvPr id="24" name="Text 22"/>
          <p:cNvSpPr/>
          <p:nvPr/>
        </p:nvSpPr>
        <p:spPr>
          <a:xfrm>
            <a:off x="1353312" y="4910328"/>
            <a:ext cx="4480560" cy="50292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Saved to disk and indexed into the vector store automatically</a:t>
            </a:r>
            <a:endParaRPr lang="en-US" sz="1200" dirty="0"/>
          </a:p>
        </p:txBody>
      </p:sp>
      <p:sp>
        <p:nvSpPr>
          <p:cNvPr id="25" name="Shape 23"/>
          <p:cNvSpPr/>
          <p:nvPr/>
        </p:nvSpPr>
        <p:spPr>
          <a:xfrm>
            <a:off x="6309360" y="4626864"/>
            <a:ext cx="365760" cy="365760"/>
          </a:xfrm>
          <a:prstGeom prst="ellipse">
            <a:avLst/>
          </a:prstGeom>
          <a:solidFill>
            <a:srgbClr val="E8A33D"/>
          </a:solidFill>
          <a:ln/>
        </p:spPr>
      </p:sp>
      <p:sp>
        <p:nvSpPr>
          <p:cNvPr id="26" name="Text 24"/>
          <p:cNvSpPr/>
          <p:nvPr/>
        </p:nvSpPr>
        <p:spPr>
          <a:xfrm>
            <a:off x="6309360" y="4626864"/>
            <a:ext cx="3657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6839712" y="4608576"/>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History and analytics</a:t>
            </a:r>
            <a:endParaRPr lang="en-US" sz="1500" dirty="0"/>
          </a:p>
        </p:txBody>
      </p:sp>
      <p:sp>
        <p:nvSpPr>
          <p:cNvPr id="28" name="Text 26"/>
          <p:cNvSpPr/>
          <p:nvPr/>
        </p:nvSpPr>
        <p:spPr>
          <a:xfrm>
            <a:off x="6839712" y="4910328"/>
            <a:ext cx="4480560" cy="50292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Past conversations, feedback rating, aggregate usage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08  CHALLENGES FACED</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The constraint that reshaped the project</a:t>
            </a:r>
            <a:endParaRPr lang="en-US" sz="3400" dirty="0"/>
          </a:p>
        </p:txBody>
      </p:sp>
      <p:sp>
        <p:nvSpPr>
          <p:cNvPr id="4" name="Shape 2"/>
          <p:cNvSpPr/>
          <p:nvPr/>
        </p:nvSpPr>
        <p:spPr>
          <a:xfrm>
            <a:off x="640080" y="1645920"/>
            <a:ext cx="525780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5" name="Text 3"/>
          <p:cNvSpPr/>
          <p:nvPr/>
        </p:nvSpPr>
        <p:spPr>
          <a:xfrm>
            <a:off x="914400" y="1847088"/>
            <a:ext cx="470916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happened</a:t>
            </a:r>
            <a:endParaRPr lang="en-US" sz="1450" dirty="0"/>
          </a:p>
        </p:txBody>
      </p:sp>
      <p:sp>
        <p:nvSpPr>
          <p:cNvPr id="6" name="Text 4"/>
          <p:cNvSpPr/>
          <p:nvPr/>
        </p:nvSpPr>
        <p:spPr>
          <a:xfrm>
            <a:off x="914400" y="2212848"/>
            <a:ext cx="4709160" cy="1280160"/>
          </a:xfrm>
          <a:prstGeom prst="rect">
            <a:avLst/>
          </a:prstGeom>
          <a:noFill/>
          <a:ln/>
        </p:spPr>
        <p:txBody>
          <a:bodyPr wrap="square" lIns="0" tIns="0" rIns="0" bIns="0" rtlCol="0" anchor="ctr"/>
          <a:lstStyle/>
          <a:p>
            <a:pPr indent="0" marL="0">
              <a:lnSpc>
                <a:spcPts val="1900"/>
              </a:lnSpc>
              <a:buNone/>
            </a:pPr>
            <a:r>
              <a:rPr lang="en-US" sz="1300" dirty="0">
                <a:solidFill>
                  <a:srgbClr val="4A5568"/>
                </a:solidFill>
                <a:latin typeface="Calibri" pitchFamily="34" charset="0"/>
                <a:ea typeface="Calibri" pitchFamily="34" charset="-122"/>
                <a:cs typeface="Calibri" pitchFamily="34" charset="-120"/>
              </a:rPr>
              <a:t>The assignments assumed a commercial LLM API. Both the OpenAI and Anthropic accounts required paid credits before any request would succeed, returning quota errors on the very first call.</a:t>
            </a:r>
            <a:endParaRPr lang="en-US" sz="1300" dirty="0"/>
          </a:p>
        </p:txBody>
      </p:sp>
      <p:sp>
        <p:nvSpPr>
          <p:cNvPr id="7" name="Shape 5"/>
          <p:cNvSpPr/>
          <p:nvPr/>
        </p:nvSpPr>
        <p:spPr>
          <a:xfrm>
            <a:off x="6263640" y="1645920"/>
            <a:ext cx="5257800" cy="2103120"/>
          </a:xfrm>
          <a:prstGeom prst="roundRect">
            <a:avLst>
              <a:gd name="adj" fmla="val 3478"/>
            </a:avLst>
          </a:prstGeom>
          <a:solidFill>
            <a:srgbClr val="1E2761"/>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8" name="Text 6"/>
          <p:cNvSpPr/>
          <p:nvPr/>
        </p:nvSpPr>
        <p:spPr>
          <a:xfrm>
            <a:off x="6537960" y="1847088"/>
            <a:ext cx="4709160" cy="274320"/>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What was done</a:t>
            </a:r>
            <a:endParaRPr lang="en-US" sz="1450" dirty="0"/>
          </a:p>
        </p:txBody>
      </p:sp>
      <p:sp>
        <p:nvSpPr>
          <p:cNvPr id="9" name="Text 7"/>
          <p:cNvSpPr/>
          <p:nvPr/>
        </p:nvSpPr>
        <p:spPr>
          <a:xfrm>
            <a:off x="6537960" y="2212848"/>
            <a:ext cx="4709160" cy="128016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The LLM layer was rewritten to run llama3.2 locally through Ollama. Because model communication was already isolated inside a single service function, the switch touched one file rather than the application.</a:t>
            </a:r>
            <a:endParaRPr lang="en-US" sz="1300" dirty="0"/>
          </a:p>
        </p:txBody>
      </p:sp>
      <p:sp>
        <p:nvSpPr>
          <p:cNvPr id="10" name="Shape 8"/>
          <p:cNvSpPr/>
          <p:nvPr/>
        </p:nvSpPr>
        <p:spPr>
          <a:xfrm>
            <a:off x="640080" y="3977640"/>
            <a:ext cx="108813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1" name="Text 9"/>
          <p:cNvSpPr/>
          <p:nvPr/>
        </p:nvSpPr>
        <p:spPr>
          <a:xfrm>
            <a:off x="914400" y="4187952"/>
            <a:ext cx="1033272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trade-off, stated plainly</a:t>
            </a:r>
            <a:endParaRPr lang="en-US" sz="1450" dirty="0"/>
          </a:p>
        </p:txBody>
      </p:sp>
      <p:sp>
        <p:nvSpPr>
          <p:cNvPr id="12" name="Text 10"/>
          <p:cNvSpPr/>
          <p:nvPr/>
        </p:nvSpPr>
        <p:spPr>
          <a:xfrm>
            <a:off x="914400" y="4526280"/>
            <a:ext cx="10332720" cy="914400"/>
          </a:xfrm>
          <a:prstGeom prst="rect">
            <a:avLst/>
          </a:prstGeom>
          <a:noFill/>
          <a:ln/>
        </p:spPr>
        <p:txBody>
          <a:bodyPr wrap="square" lIns="0" tIns="0" rIns="0" bIns="0" rtlCol="0" anchor="ctr"/>
          <a:lstStyle/>
          <a:p>
            <a:pPr indent="0" marL="0">
              <a:lnSpc>
                <a:spcPts val="1900"/>
              </a:lnSpc>
              <a:buNone/>
            </a:pPr>
            <a:r>
              <a:rPr lang="en-US" sz="1300" dirty="0">
                <a:solidFill>
                  <a:srgbClr val="4A5568"/>
                </a:solidFill>
                <a:latin typeface="Calibri" pitchFamily="34" charset="0"/>
                <a:ea typeface="Calibri" pitchFamily="34" charset="-122"/>
                <a:cs typeface="Calibri" pitchFamily="34" charset="-120"/>
              </a:rPr>
              <a:t>Generation is slower and the model smaller than a commercial API would give. In exchange: zero cost, no API key to leak, and no external dependency the project can be blocked on. The abstraction that made the swap cheap is still in place, so moving to a hosted provider later is a configuration change, not a rewrite.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08  CHALLENGES FACED</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Three more worth naming</a:t>
            </a:r>
            <a:endParaRPr lang="en-US" sz="3400" dirty="0"/>
          </a:p>
        </p:txBody>
      </p:sp>
      <p:sp>
        <p:nvSpPr>
          <p:cNvPr id="4" name="Shape 2"/>
          <p:cNvSpPr/>
          <p:nvPr/>
        </p:nvSpPr>
        <p:spPr>
          <a:xfrm>
            <a:off x="640080" y="1645920"/>
            <a:ext cx="3520440" cy="3657600"/>
          </a:xfrm>
          <a:prstGeom prst="roundRect">
            <a:avLst>
              <a:gd name="adj" fmla="val 2078"/>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5" name="Shape 3"/>
          <p:cNvSpPr/>
          <p:nvPr/>
        </p:nvSpPr>
        <p:spPr>
          <a:xfrm>
            <a:off x="914400" y="1874520"/>
            <a:ext cx="384048" cy="384048"/>
          </a:xfrm>
          <a:prstGeom prst="ellipse">
            <a:avLst/>
          </a:prstGeom>
          <a:solidFill>
            <a:srgbClr val="1E2761"/>
          </a:solidFill>
          <a:ln/>
        </p:spPr>
      </p:sp>
      <p:sp>
        <p:nvSpPr>
          <p:cNvPr id="6" name="Text 4"/>
          <p:cNvSpPr/>
          <p:nvPr/>
        </p:nvSpPr>
        <p:spPr>
          <a:xfrm>
            <a:off x="91440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14400" y="2395728"/>
            <a:ext cx="2971800" cy="566928"/>
          </a:xfrm>
          <a:prstGeom prst="rect">
            <a:avLst/>
          </a:prstGeom>
          <a:noFill/>
          <a:ln/>
        </p:spPr>
        <p:txBody>
          <a:bodyPr wrap="square" lIns="0" tIns="0" rIns="0" bIns="0" rtlCol="0" anchor="ctr"/>
          <a:lstStyle/>
          <a:p>
            <a:pPr indent="0" marL="0">
              <a:lnSpc>
                <a:spcPts val="1900"/>
              </a:lnSpc>
              <a:buNone/>
            </a:pPr>
            <a:r>
              <a:rPr lang="en-US" sz="1450" b="1" dirty="0">
                <a:solidFill>
                  <a:srgbClr val="1E2761"/>
                </a:solidFill>
                <a:latin typeface="Calibri" pitchFamily="34" charset="0"/>
                <a:ea typeface="Calibri" pitchFamily="34" charset="-122"/>
                <a:cs typeface="Calibri" pitchFamily="34" charset="-120"/>
              </a:rPr>
              <a:t>Misleading similarity scores</a:t>
            </a:r>
            <a:endParaRPr lang="en-US" sz="1450" dirty="0"/>
          </a:p>
        </p:txBody>
      </p:sp>
      <p:sp>
        <p:nvSpPr>
          <p:cNvPr id="8" name="Text 6"/>
          <p:cNvSpPr/>
          <p:nvPr/>
        </p:nvSpPr>
        <p:spPr>
          <a:xfrm>
            <a:off x="914400" y="3017520"/>
            <a:ext cx="2971800" cy="137160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The correct document was scoring 0.25. ChromaDB defaults to squared L2 distance, but the conversion assumed cosine. Rankings were right, the numbers were not.</a:t>
            </a:r>
            <a:endParaRPr lang="en-US" sz="1200" dirty="0"/>
          </a:p>
        </p:txBody>
      </p:sp>
      <p:sp>
        <p:nvSpPr>
          <p:cNvPr id="9" name="Text 7"/>
          <p:cNvSpPr/>
          <p:nvPr/>
        </p:nvSpPr>
        <p:spPr>
          <a:xfrm>
            <a:off x="914400" y="4498848"/>
            <a:ext cx="2971800" cy="685800"/>
          </a:xfrm>
          <a:prstGeom prst="rect">
            <a:avLst/>
          </a:prstGeom>
          <a:noFill/>
          <a:ln/>
        </p:spPr>
        <p:txBody>
          <a:bodyPr wrap="square" lIns="0" tIns="0" rIns="0" bIns="0" rtlCol="0" anchor="ctr"/>
          <a:lstStyle/>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Recreated the collection with cosine similarity configured explicitly.</a:t>
            </a:r>
            <a:endParaRPr lang="en-US" sz="1150" dirty="0"/>
          </a:p>
        </p:txBody>
      </p:sp>
      <p:sp>
        <p:nvSpPr>
          <p:cNvPr id="10" name="Shape 8"/>
          <p:cNvSpPr/>
          <p:nvPr/>
        </p:nvSpPr>
        <p:spPr>
          <a:xfrm>
            <a:off x="4398264" y="1645920"/>
            <a:ext cx="3520440" cy="3657600"/>
          </a:xfrm>
          <a:prstGeom prst="roundRect">
            <a:avLst>
              <a:gd name="adj" fmla="val 2078"/>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1" name="Shape 9"/>
          <p:cNvSpPr/>
          <p:nvPr/>
        </p:nvSpPr>
        <p:spPr>
          <a:xfrm>
            <a:off x="4672584" y="1874520"/>
            <a:ext cx="384048" cy="384048"/>
          </a:xfrm>
          <a:prstGeom prst="ellipse">
            <a:avLst/>
          </a:prstGeom>
          <a:solidFill>
            <a:srgbClr val="1E2761"/>
          </a:solidFill>
          <a:ln/>
        </p:spPr>
      </p:sp>
      <p:sp>
        <p:nvSpPr>
          <p:cNvPr id="12" name="Text 10"/>
          <p:cNvSpPr/>
          <p:nvPr/>
        </p:nvSpPr>
        <p:spPr>
          <a:xfrm>
            <a:off x="4672584"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672584" y="2395728"/>
            <a:ext cx="2971800" cy="566928"/>
          </a:xfrm>
          <a:prstGeom prst="rect">
            <a:avLst/>
          </a:prstGeom>
          <a:noFill/>
          <a:ln/>
        </p:spPr>
        <p:txBody>
          <a:bodyPr wrap="square" lIns="0" tIns="0" rIns="0" bIns="0" rtlCol="0" anchor="ctr"/>
          <a:lstStyle/>
          <a:p>
            <a:pPr indent="0" marL="0">
              <a:lnSpc>
                <a:spcPts val="1900"/>
              </a:lnSpc>
              <a:buNone/>
            </a:pPr>
            <a:r>
              <a:rPr lang="en-US" sz="1450" b="1" dirty="0">
                <a:solidFill>
                  <a:srgbClr val="1E2761"/>
                </a:solidFill>
                <a:latin typeface="Calibri" pitchFamily="34" charset="0"/>
                <a:ea typeface="Calibri" pitchFamily="34" charset="-122"/>
                <a:cs typeface="Calibri" pitchFamily="34" charset="-120"/>
              </a:rPr>
              <a:t>Embedding model stalling</a:t>
            </a:r>
            <a:endParaRPr lang="en-US" sz="1450" dirty="0"/>
          </a:p>
        </p:txBody>
      </p:sp>
      <p:sp>
        <p:nvSpPr>
          <p:cNvPr id="14" name="Text 12"/>
          <p:cNvSpPr/>
          <p:nvPr/>
        </p:nvSpPr>
        <p:spPr>
          <a:xfrm>
            <a:off x="4672584" y="3017520"/>
            <a:ext cx="2971800" cy="137160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Startup hung on repeated HTTP 504 errors from the Hugging Face Hub, despite the model already being cached locally on disk.</a:t>
            </a:r>
            <a:endParaRPr lang="en-US" sz="1200" dirty="0"/>
          </a:p>
        </p:txBody>
      </p:sp>
      <p:sp>
        <p:nvSpPr>
          <p:cNvPr id="15" name="Text 13"/>
          <p:cNvSpPr/>
          <p:nvPr/>
        </p:nvSpPr>
        <p:spPr>
          <a:xfrm>
            <a:off x="4672584" y="4498848"/>
            <a:ext cx="2971800" cy="685800"/>
          </a:xfrm>
          <a:prstGeom prst="rect">
            <a:avLst/>
          </a:prstGeom>
          <a:noFill/>
          <a:ln/>
        </p:spPr>
        <p:txBody>
          <a:bodyPr wrap="square" lIns="0" tIns="0" rIns="0" bIns="0" rtlCol="0" anchor="ctr"/>
          <a:lstStyle/>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Set HF_HUB_OFFLINE to force local-only loading.</a:t>
            </a:r>
            <a:endParaRPr lang="en-US" sz="1150" dirty="0"/>
          </a:p>
        </p:txBody>
      </p:sp>
      <p:sp>
        <p:nvSpPr>
          <p:cNvPr id="16" name="Shape 14"/>
          <p:cNvSpPr/>
          <p:nvPr/>
        </p:nvSpPr>
        <p:spPr>
          <a:xfrm>
            <a:off x="8156448" y="1645920"/>
            <a:ext cx="3520440" cy="3657600"/>
          </a:xfrm>
          <a:prstGeom prst="roundRect">
            <a:avLst>
              <a:gd name="adj" fmla="val 2078"/>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7" name="Shape 15"/>
          <p:cNvSpPr/>
          <p:nvPr/>
        </p:nvSpPr>
        <p:spPr>
          <a:xfrm>
            <a:off x="8430768" y="1874520"/>
            <a:ext cx="384048" cy="384048"/>
          </a:xfrm>
          <a:prstGeom prst="ellipse">
            <a:avLst/>
          </a:prstGeom>
          <a:solidFill>
            <a:srgbClr val="1E2761"/>
          </a:solidFill>
          <a:ln/>
        </p:spPr>
      </p:sp>
      <p:sp>
        <p:nvSpPr>
          <p:cNvPr id="18" name="Text 16"/>
          <p:cNvSpPr/>
          <p:nvPr/>
        </p:nvSpPr>
        <p:spPr>
          <a:xfrm>
            <a:off x="843076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430768" y="2395728"/>
            <a:ext cx="2971800" cy="566928"/>
          </a:xfrm>
          <a:prstGeom prst="rect">
            <a:avLst/>
          </a:prstGeom>
          <a:noFill/>
          <a:ln/>
        </p:spPr>
        <p:txBody>
          <a:bodyPr wrap="square" lIns="0" tIns="0" rIns="0" bIns="0" rtlCol="0" anchor="ctr"/>
          <a:lstStyle/>
          <a:p>
            <a:pPr indent="0" marL="0">
              <a:lnSpc>
                <a:spcPts val="1900"/>
              </a:lnSpc>
              <a:buNone/>
            </a:pPr>
            <a:r>
              <a:rPr lang="en-US" sz="1450" b="1" dirty="0">
                <a:solidFill>
                  <a:srgbClr val="1E2761"/>
                </a:solidFill>
                <a:latin typeface="Calibri" pitchFamily="34" charset="0"/>
                <a:ea typeface="Calibri" pitchFamily="34" charset="-122"/>
                <a:cs typeface="Calibri" pitchFamily="34" charset="-120"/>
              </a:rPr>
              <a:t>An unprotected endpoint</a:t>
            </a:r>
            <a:endParaRPr lang="en-US" sz="1450" dirty="0"/>
          </a:p>
        </p:txBody>
      </p:sp>
      <p:sp>
        <p:nvSpPr>
          <p:cNvPr id="20" name="Text 18"/>
          <p:cNvSpPr/>
          <p:nvPr/>
        </p:nvSpPr>
        <p:spPr>
          <a:xfrm>
            <a:off x="8430768" y="3017520"/>
            <a:ext cx="2971800" cy="1371600"/>
          </a:xfrm>
          <a:prstGeom prst="rect">
            <a:avLst/>
          </a:prstGeom>
          <a:noFill/>
          <a:ln/>
        </p:spPr>
        <p:txBody>
          <a:bodyPr wrap="square" lIns="0" tIns="0" rIns="0" bIns="0" rtlCol="0" anchor="ctr"/>
          <a:lstStyle/>
          <a:p>
            <a:pPr indent="0" marL="0">
              <a:lnSpc>
                <a:spcPts val="1700"/>
              </a:lnSpc>
              <a:buNone/>
            </a:pPr>
            <a:r>
              <a:rPr lang="en-US" sz="1200" dirty="0">
                <a:solidFill>
                  <a:srgbClr val="4A5568"/>
                </a:solidFill>
                <a:latin typeface="Calibri" pitchFamily="34" charset="0"/>
                <a:ea typeface="Calibri" pitchFamily="34" charset="-122"/>
                <a:cs typeface="Calibri" pitchFamily="34" charset="-120"/>
              </a:rPr>
              <a:t>Document upload required authentication. Document delete did not. Any unauthenticated caller could remove documents from the knowledge base.</a:t>
            </a:r>
            <a:endParaRPr lang="en-US" sz="1200" dirty="0"/>
          </a:p>
        </p:txBody>
      </p:sp>
      <p:sp>
        <p:nvSpPr>
          <p:cNvPr id="21" name="Text 19"/>
          <p:cNvSpPr/>
          <p:nvPr/>
        </p:nvSpPr>
        <p:spPr>
          <a:xfrm>
            <a:off x="8430768" y="4498848"/>
            <a:ext cx="2971800" cy="685800"/>
          </a:xfrm>
          <a:prstGeom prst="rect">
            <a:avLst/>
          </a:prstGeom>
          <a:noFill/>
          <a:ln/>
        </p:spPr>
        <p:txBody>
          <a:bodyPr wrap="square" lIns="0" tIns="0" rIns="0" bIns="0" rtlCol="0" anchor="ctr"/>
          <a:lstStyle/>
          <a:p>
            <a:pPr indent="0" marL="0">
              <a:lnSpc>
                <a:spcPts val="1600"/>
              </a:lnSpc>
              <a:buNone/>
            </a:pPr>
            <a:r>
              <a:rPr lang="en-US" sz="1150" b="1" dirty="0">
                <a:solidFill>
                  <a:srgbClr val="1E2761"/>
                </a:solidFill>
                <a:latin typeface="Calibri" pitchFamily="34" charset="0"/>
                <a:ea typeface="Calibri" pitchFamily="34" charset="-122"/>
                <a:cs typeface="Calibri" pitchFamily="34" charset="-120"/>
              </a:rPr>
              <a:t>Found during the final review pass, not by any single day's testing.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09  KEY LEARNINGS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What I take from this</a:t>
            </a:r>
            <a:endParaRPr lang="en-US" sz="3400" dirty="0"/>
          </a:p>
        </p:txBody>
      </p:sp>
      <p:sp>
        <p:nvSpPr>
          <p:cNvPr id="4" name="Shape 2"/>
          <p:cNvSpPr/>
          <p:nvPr/>
        </p:nvSpPr>
        <p:spPr>
          <a:xfrm>
            <a:off x="640080" y="1691640"/>
            <a:ext cx="534924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5" name="Shape 3"/>
          <p:cNvSpPr/>
          <p:nvPr/>
        </p:nvSpPr>
        <p:spPr>
          <a:xfrm>
            <a:off x="932688" y="1947672"/>
            <a:ext cx="365760" cy="365760"/>
          </a:xfrm>
          <a:prstGeom prst="ellipse">
            <a:avLst/>
          </a:prstGeom>
          <a:solidFill>
            <a:srgbClr val="1E2761"/>
          </a:solidFill>
          <a:ln/>
        </p:spPr>
      </p:sp>
      <p:sp>
        <p:nvSpPr>
          <p:cNvPr id="6" name="Text 4"/>
          <p:cNvSpPr/>
          <p:nvPr/>
        </p:nvSpPr>
        <p:spPr>
          <a:xfrm>
            <a:off x="932688" y="19476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44752" y="1929384"/>
            <a:ext cx="429768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Retrieval quality sets the ceiling</a:t>
            </a:r>
            <a:endParaRPr lang="en-US" sz="1500" dirty="0"/>
          </a:p>
        </p:txBody>
      </p:sp>
      <p:sp>
        <p:nvSpPr>
          <p:cNvPr id="8" name="Text 6"/>
          <p:cNvSpPr/>
          <p:nvPr/>
        </p:nvSpPr>
        <p:spPr>
          <a:xfrm>
            <a:off x="1444752" y="2313432"/>
            <a:ext cx="429768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No prompt can rescue the wrong documents. Most of the real work in a RAG system lives in the retrieval layer, not the generation layer.</a:t>
            </a:r>
            <a:endParaRPr lang="en-US" sz="1250" dirty="0"/>
          </a:p>
        </p:txBody>
      </p:sp>
      <p:sp>
        <p:nvSpPr>
          <p:cNvPr id="9" name="Shape 7"/>
          <p:cNvSpPr/>
          <p:nvPr/>
        </p:nvSpPr>
        <p:spPr>
          <a:xfrm>
            <a:off x="6227064" y="1691640"/>
            <a:ext cx="534924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0" name="Shape 8"/>
          <p:cNvSpPr/>
          <p:nvPr/>
        </p:nvSpPr>
        <p:spPr>
          <a:xfrm>
            <a:off x="6519672" y="1947672"/>
            <a:ext cx="365760" cy="365760"/>
          </a:xfrm>
          <a:prstGeom prst="ellipse">
            <a:avLst/>
          </a:prstGeom>
          <a:solidFill>
            <a:srgbClr val="1E2761"/>
          </a:solidFill>
          <a:ln/>
        </p:spPr>
      </p:sp>
      <p:sp>
        <p:nvSpPr>
          <p:cNvPr id="11" name="Text 9"/>
          <p:cNvSpPr/>
          <p:nvPr/>
        </p:nvSpPr>
        <p:spPr>
          <a:xfrm>
            <a:off x="6519672" y="19476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031736" y="1929384"/>
            <a:ext cx="429768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Prompts change behaviour measurably</a:t>
            </a:r>
            <a:endParaRPr lang="en-US" sz="1500" dirty="0"/>
          </a:p>
        </p:txBody>
      </p:sp>
      <p:sp>
        <p:nvSpPr>
          <p:cNvPr id="13" name="Text 11"/>
          <p:cNvSpPr/>
          <p:nvPr/>
        </p:nvSpPr>
        <p:spPr>
          <a:xfrm>
            <a:off x="7031736" y="2313432"/>
            <a:ext cx="429768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Instructing the model to return one exact phrase when the answer is absent produced a consistent, machine-checkable refusal instead of a different improvisation each time.</a:t>
            </a:r>
            <a:endParaRPr lang="en-US" sz="1250" dirty="0"/>
          </a:p>
        </p:txBody>
      </p:sp>
      <p:sp>
        <p:nvSpPr>
          <p:cNvPr id="14" name="Shape 12"/>
          <p:cNvSpPr/>
          <p:nvPr/>
        </p:nvSpPr>
        <p:spPr>
          <a:xfrm>
            <a:off x="640080" y="3657600"/>
            <a:ext cx="534924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5" name="Shape 13"/>
          <p:cNvSpPr/>
          <p:nvPr/>
        </p:nvSpPr>
        <p:spPr>
          <a:xfrm>
            <a:off x="932688" y="3913632"/>
            <a:ext cx="365760" cy="365760"/>
          </a:xfrm>
          <a:prstGeom prst="ellipse">
            <a:avLst/>
          </a:prstGeom>
          <a:solidFill>
            <a:srgbClr val="1E2761"/>
          </a:solidFill>
          <a:ln/>
        </p:spPr>
      </p:sp>
      <p:sp>
        <p:nvSpPr>
          <p:cNvPr id="16" name="Text 14"/>
          <p:cNvSpPr/>
          <p:nvPr/>
        </p:nvSpPr>
        <p:spPr>
          <a:xfrm>
            <a:off x="932688"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44752" y="3895344"/>
            <a:ext cx="429768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Isolate external dependencies</a:t>
            </a:r>
            <a:endParaRPr lang="en-US" sz="1500" dirty="0"/>
          </a:p>
        </p:txBody>
      </p:sp>
      <p:sp>
        <p:nvSpPr>
          <p:cNvPr id="18" name="Text 16"/>
          <p:cNvSpPr/>
          <p:nvPr/>
        </p:nvSpPr>
        <p:spPr>
          <a:xfrm>
            <a:off x="1444752" y="4279392"/>
            <a:ext cx="429768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Because LLM calls lived behind one function, losing API access mid-project was a contained change rather than a rewrite.</a:t>
            </a:r>
            <a:endParaRPr lang="en-US" sz="1250" dirty="0"/>
          </a:p>
        </p:txBody>
      </p:sp>
      <p:sp>
        <p:nvSpPr>
          <p:cNvPr id="19" name="Shape 17"/>
          <p:cNvSpPr/>
          <p:nvPr/>
        </p:nvSpPr>
        <p:spPr>
          <a:xfrm>
            <a:off x="6227064" y="3657600"/>
            <a:ext cx="534924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20" name="Shape 18"/>
          <p:cNvSpPr/>
          <p:nvPr/>
        </p:nvSpPr>
        <p:spPr>
          <a:xfrm>
            <a:off x="6519672" y="3913632"/>
            <a:ext cx="365760" cy="365760"/>
          </a:xfrm>
          <a:prstGeom prst="ellipse">
            <a:avLst/>
          </a:prstGeom>
          <a:solidFill>
            <a:srgbClr val="1E2761"/>
          </a:solidFill>
          <a:ln/>
        </p:spPr>
      </p:sp>
      <p:sp>
        <p:nvSpPr>
          <p:cNvPr id="21" name="Text 19"/>
          <p:cNvSpPr/>
          <p:nvPr/>
        </p:nvSpPr>
        <p:spPr>
          <a:xfrm>
            <a:off x="6519672"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031736" y="3895344"/>
            <a:ext cx="429768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Structure keeps a project navigable</a:t>
            </a:r>
            <a:endParaRPr lang="en-US" sz="1500" dirty="0"/>
          </a:p>
        </p:txBody>
      </p:sp>
      <p:sp>
        <p:nvSpPr>
          <p:cNvPr id="23" name="Text 21"/>
          <p:cNvSpPr/>
          <p:nvPr/>
        </p:nvSpPr>
        <p:spPr>
          <a:xfrm>
            <a:off x="7031736" y="4279392"/>
            <a:ext cx="4297680" cy="914400"/>
          </a:xfrm>
          <a:prstGeom prst="rect">
            <a:avLst/>
          </a:prstGeom>
          <a:noFill/>
          <a:ln/>
        </p:spPr>
        <p:txBody>
          <a:bodyPr wrap="square" lIns="0" tIns="0" rIns="0" bIns="0" rtlCol="0" anchor="ctr"/>
          <a:lstStyle/>
          <a:p>
            <a:pPr indent="0" marL="0">
              <a:lnSpc>
                <a:spcPts val="1800"/>
              </a:lnSpc>
              <a:buNone/>
            </a:pPr>
            <a:r>
              <a:rPr lang="en-US" sz="1250" dirty="0">
                <a:solidFill>
                  <a:srgbClr val="4A5568"/>
                </a:solidFill>
                <a:latin typeface="Calibri" pitchFamily="34" charset="0"/>
                <a:ea typeface="Calibri" pitchFamily="34" charset="-122"/>
                <a:cs typeface="Calibri" pitchFamily="34" charset="-120"/>
              </a:rPr>
              <a:t>By the final week there were twelve endpoints, and finding logic stayed easy because routes held no business logic.</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10  FUTURE ENHANCEMENTS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Where it goes next</a:t>
            </a:r>
            <a:endParaRPr lang="en-US" sz="3400" dirty="0"/>
          </a:p>
        </p:txBody>
      </p:sp>
      <p:sp>
        <p:nvSpPr>
          <p:cNvPr id="4" name="Shape 2"/>
          <p:cNvSpPr/>
          <p:nvPr/>
        </p:nvSpPr>
        <p:spPr>
          <a:xfrm>
            <a:off x="640080" y="1645920"/>
            <a:ext cx="3520440" cy="3794760"/>
          </a:xfrm>
          <a:prstGeom prst="roundRect">
            <a:avLst>
              <a:gd name="adj" fmla="val 2078"/>
            </a:avLst>
          </a:prstGeom>
          <a:solidFill>
            <a:srgbClr val="1E2761"/>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5" name="Text 3"/>
          <p:cNvSpPr/>
          <p:nvPr/>
        </p:nvSpPr>
        <p:spPr>
          <a:xfrm>
            <a:off x="914400" y="1874520"/>
            <a:ext cx="2971800" cy="256032"/>
          </a:xfrm>
          <a:prstGeom prst="rect">
            <a:avLst/>
          </a:prstGeom>
          <a:noFill/>
          <a:ln/>
        </p:spPr>
        <p:txBody>
          <a:bodyPr wrap="square" lIns="0" tIns="0" rIns="0" bIns="0" rtlCol="0" anchor="ctr"/>
          <a:lstStyle/>
          <a:p>
            <a:pPr indent="0" marL="0">
              <a:buNone/>
            </a:pPr>
            <a:r>
              <a:rPr lang="en-US" sz="1050" b="1" spc="150" kern="0" dirty="0">
                <a:solidFill>
                  <a:srgbClr val="E8A33D"/>
                </a:solidFill>
                <a:latin typeface="Calibri" pitchFamily="34" charset="0"/>
                <a:ea typeface="Calibri" pitchFamily="34" charset="-122"/>
                <a:cs typeface="Calibri" pitchFamily="34" charset="-120"/>
              </a:rPr>
              <a:t>BEFORE PRODUCTION</a:t>
            </a:r>
            <a:endParaRPr lang="en-US" sz="1050" dirty="0"/>
          </a:p>
        </p:txBody>
      </p:sp>
      <p:sp>
        <p:nvSpPr>
          <p:cNvPr id="6" name="Text 4"/>
          <p:cNvSpPr/>
          <p:nvPr/>
        </p:nvSpPr>
        <p:spPr>
          <a:xfrm>
            <a:off x="914400" y="2240280"/>
            <a:ext cx="2971800" cy="292608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300" dirty="0">
                <a:solidFill>
                  <a:srgbClr val="FFFFFF"/>
                </a:solidFill>
                <a:latin typeface="Calibri" pitchFamily="34" charset="0"/>
                <a:ea typeface="Calibri" pitchFamily="34" charset="-122"/>
                <a:cs typeface="Calibri" pitchFamily="34" charset="-120"/>
              </a:rPr>
              <a:t>Move the JWT secret out of source code into runtime environment variables</a:t>
            </a:r>
            <a:endParaRPr lang="en-US" sz="1300" dirty="0"/>
          </a:p>
          <a:p>
            <a:pPr marL="342900" indent="-342900">
              <a:lnSpc>
                <a:spcPts val="1800"/>
              </a:lnSpc>
              <a:spcAft>
                <a:spcPts val="1100"/>
              </a:spcAft>
              <a:buSzPct val="100000"/>
              <a:buChar char="•"/>
            </a:pPr>
            <a:r>
              <a:rPr lang="en-US" sz="1300" dirty="0">
                <a:solidFill>
                  <a:srgbClr val="FFFFFF"/>
                </a:solidFill>
                <a:latin typeface="Calibri" pitchFamily="34" charset="0"/>
                <a:ea typeface="Calibri" pitchFamily="34" charset="-122"/>
                <a:cs typeface="Calibri" pitchFamily="34" charset="-120"/>
              </a:rPr>
              <a:t>Add API rate limiting, covered conceptually but not built</a:t>
            </a:r>
            <a:endParaRPr lang="en-US" sz="1300" dirty="0"/>
          </a:p>
          <a:p>
            <a:pPr marL="342900" indent="-342900">
              <a:lnSpc>
                <a:spcPts val="1800"/>
              </a:lnSpc>
              <a:spcAft>
                <a:spcPts val="1100"/>
              </a:spcAft>
              <a:buSzPct val="100000"/>
              <a:buChar char="•"/>
            </a:pPr>
            <a:r>
              <a:rPr lang="en-US" sz="1300" dirty="0">
                <a:solidFill>
                  <a:srgbClr val="FFFFFF"/>
                </a:solidFill>
                <a:latin typeface="Calibri" pitchFamily="34" charset="0"/>
                <a:ea typeface="Calibri" pitchFamily="34" charset="-122"/>
                <a:cs typeface="Calibri" pitchFamily="34" charset="-120"/>
              </a:rPr>
              <a:t>Role-based access so only administrators can manage documents</a:t>
            </a:r>
            <a:endParaRPr lang="en-US" sz="1300" dirty="0"/>
          </a:p>
        </p:txBody>
      </p:sp>
      <p:sp>
        <p:nvSpPr>
          <p:cNvPr id="7" name="Shape 5"/>
          <p:cNvSpPr/>
          <p:nvPr/>
        </p:nvSpPr>
        <p:spPr>
          <a:xfrm>
            <a:off x="4343400" y="1645920"/>
            <a:ext cx="3520440" cy="3794760"/>
          </a:xfrm>
          <a:prstGeom prst="roundRect">
            <a:avLst>
              <a:gd name="adj" fmla="val 2078"/>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8" name="Text 6"/>
          <p:cNvSpPr/>
          <p:nvPr/>
        </p:nvSpPr>
        <p:spPr>
          <a:xfrm>
            <a:off x="4617720" y="1874520"/>
            <a:ext cx="2971800" cy="256032"/>
          </a:xfrm>
          <a:prstGeom prst="rect">
            <a:avLst/>
          </a:prstGeom>
          <a:noFill/>
          <a:ln/>
        </p:spPr>
        <p:txBody>
          <a:bodyPr wrap="square" lIns="0" tIns="0" rIns="0" bIns="0" rtlCol="0" anchor="ctr"/>
          <a:lstStyle/>
          <a:p>
            <a:pPr indent="0" marL="0">
              <a:buNone/>
            </a:pPr>
            <a:r>
              <a:rPr lang="en-US" sz="1050" b="1" spc="150" kern="0" dirty="0">
                <a:solidFill>
                  <a:srgbClr val="E8A33D"/>
                </a:solidFill>
                <a:latin typeface="Calibri" pitchFamily="34" charset="0"/>
                <a:ea typeface="Calibri" pitchFamily="34" charset="-122"/>
                <a:cs typeface="Calibri" pitchFamily="34" charset="-120"/>
              </a:rPr>
              <a:t>SCALE</a:t>
            </a:r>
            <a:endParaRPr lang="en-US" sz="1050" dirty="0"/>
          </a:p>
        </p:txBody>
      </p:sp>
      <p:sp>
        <p:nvSpPr>
          <p:cNvPr id="9" name="Text 7"/>
          <p:cNvSpPr/>
          <p:nvPr/>
        </p:nvSpPr>
        <p:spPr>
          <a:xfrm>
            <a:off x="4617720" y="2240280"/>
            <a:ext cx="2971800" cy="292608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Replace SQLite with PostgreSQL for concurrent writes and multiple instances</a:t>
            </a:r>
            <a:endParaRPr lang="en-US" sz="1300" dirty="0"/>
          </a:p>
          <a:p>
            <a:pPr marL="342900" indent="-342900">
              <a:lnSpc>
                <a:spcPts val="1800"/>
              </a:lnSpc>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Paginate conversation history and document listing, which return full sets today</a:t>
            </a:r>
            <a:endParaRPr lang="en-US" sz="1300" dirty="0"/>
          </a:p>
          <a:p>
            <a:pPr marL="342900" indent="-342900">
              <a:lnSpc>
                <a:spcPts val="1800"/>
              </a:lnSpc>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Cloud deployment with a CI/CD pipeline running tests on every commit</a:t>
            </a:r>
            <a:endParaRPr lang="en-US" sz="1300" dirty="0"/>
          </a:p>
        </p:txBody>
      </p:sp>
      <p:sp>
        <p:nvSpPr>
          <p:cNvPr id="10" name="Shape 8"/>
          <p:cNvSpPr/>
          <p:nvPr/>
        </p:nvSpPr>
        <p:spPr>
          <a:xfrm>
            <a:off x="8046720" y="1645920"/>
            <a:ext cx="3474720" cy="3794760"/>
          </a:xfrm>
          <a:prstGeom prst="roundRect">
            <a:avLst>
              <a:gd name="adj" fmla="val 2105"/>
            </a:avLst>
          </a:prstGeom>
          <a:solidFill>
            <a:srgbClr val="FFFFFF"/>
          </a:solidFill>
          <a:ln w="12700">
            <a:solidFill>
              <a:srgbClr val="E2E8F0"/>
            </a:solidFill>
            <a:prstDash val="solid"/>
          </a:ln>
          <a:effectLst>
            <a:outerShdw sx="100000" sy="100000" kx="0" ky="0" algn="bl" rotWithShape="0" blurRad="101600" dist="25400" dir="5400000">
              <a:srgbClr val="AAB4C4">
                <a:alpha val="25000"/>
              </a:srgbClr>
            </a:outerShdw>
          </a:effectLst>
        </p:spPr>
      </p:sp>
      <p:sp>
        <p:nvSpPr>
          <p:cNvPr id="11" name="Text 9"/>
          <p:cNvSpPr/>
          <p:nvPr/>
        </p:nvSpPr>
        <p:spPr>
          <a:xfrm>
            <a:off x="8321040" y="1874520"/>
            <a:ext cx="2926080" cy="256032"/>
          </a:xfrm>
          <a:prstGeom prst="rect">
            <a:avLst/>
          </a:prstGeom>
          <a:noFill/>
          <a:ln/>
        </p:spPr>
        <p:txBody>
          <a:bodyPr wrap="square" lIns="0" tIns="0" rIns="0" bIns="0" rtlCol="0" anchor="ctr"/>
          <a:lstStyle/>
          <a:p>
            <a:pPr indent="0" marL="0">
              <a:buNone/>
            </a:pPr>
            <a:r>
              <a:rPr lang="en-US" sz="1050" b="1" spc="150" kern="0" dirty="0">
                <a:solidFill>
                  <a:srgbClr val="E8A33D"/>
                </a:solidFill>
                <a:latin typeface="Calibri" pitchFamily="34" charset="0"/>
                <a:ea typeface="Calibri" pitchFamily="34" charset="-122"/>
                <a:cs typeface="Calibri" pitchFamily="34" charset="-120"/>
              </a:rPr>
              <a:t>CAPABILITY</a:t>
            </a:r>
            <a:endParaRPr lang="en-US" sz="1050" dirty="0"/>
          </a:p>
        </p:txBody>
      </p:sp>
      <p:sp>
        <p:nvSpPr>
          <p:cNvPr id="12" name="Text 10"/>
          <p:cNvSpPr/>
          <p:nvPr/>
        </p:nvSpPr>
        <p:spPr>
          <a:xfrm>
            <a:off x="8321040" y="2240280"/>
            <a:ext cx="2926080" cy="292608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Ingest PDF and DOCX, with OCR for scanned documents</a:t>
            </a:r>
            <a:endParaRPr lang="en-US" sz="1300" dirty="0"/>
          </a:p>
          <a:p>
            <a:pPr marL="342900" indent="-342900">
              <a:lnSpc>
                <a:spcPts val="1800"/>
              </a:lnSpc>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Multi-language support for both questions and documents</a:t>
            </a:r>
            <a:endParaRPr lang="en-US" sz="1300" dirty="0"/>
          </a:p>
          <a:p>
            <a:pPr marL="342900" indent="-342900">
              <a:lnSpc>
                <a:spcPts val="1800"/>
              </a:lnSpc>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Monitoring and alerting on response time and error rate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3931920"/>
            <a:ext cx="4206240" cy="4206240"/>
          </a:xfrm>
          <a:prstGeom prst="ellipse">
            <a:avLst/>
          </a:prstGeom>
          <a:solidFill>
            <a:srgbClr val="2E3B7A"/>
          </a:solidFill>
          <a:ln/>
        </p:spPr>
      </p:sp>
      <p:sp>
        <p:nvSpPr>
          <p:cNvPr id="3" name="Shape 1"/>
          <p:cNvSpPr/>
          <p:nvPr/>
        </p:nvSpPr>
        <p:spPr>
          <a:xfrm>
            <a:off x="10424160" y="-1005840"/>
            <a:ext cx="3657600" cy="3657600"/>
          </a:xfrm>
          <a:prstGeom prst="ellipse">
            <a:avLst/>
          </a:prstGeom>
          <a:solidFill>
            <a:srgbClr val="2E3B7A"/>
          </a:solidFill>
          <a:ln/>
        </p:spPr>
      </p:sp>
      <p:sp>
        <p:nvSpPr>
          <p:cNvPr id="4" name="Text 2"/>
          <p:cNvSpPr/>
          <p:nvPr/>
        </p:nvSpPr>
        <p:spPr>
          <a:xfrm>
            <a:off x="822960" y="2011680"/>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822960" y="2971800"/>
            <a:ext cx="7223760" cy="777240"/>
          </a:xfrm>
          <a:prstGeom prst="rect">
            <a:avLst/>
          </a:prstGeom>
          <a:noFill/>
          <a:ln/>
        </p:spPr>
        <p:txBody>
          <a:bodyPr wrap="square" lIns="0" tIns="0" rIns="0" bIns="0" rtlCol="0" anchor="ctr"/>
          <a:lstStyle/>
          <a:p>
            <a:pPr indent="0" marL="0">
              <a:lnSpc>
                <a:spcPts val="2400"/>
              </a:lnSpc>
              <a:buNone/>
            </a:pPr>
            <a:r>
              <a:rPr lang="en-US" sz="1500" dirty="0">
                <a:solidFill>
                  <a:srgbClr val="CADCFC"/>
                </a:solidFill>
                <a:latin typeface="Calibri" pitchFamily="34" charset="0"/>
                <a:ea typeface="Calibri" pitchFamily="34" charset="-122"/>
                <a:cs typeface="Calibri" pitchFamily="34" charset="-120"/>
              </a:rPr>
              <a:t>Thirty days: Python engineering, data and machine learning, REST API development, and a working retrieval-augmented AI application.</a:t>
            </a:r>
            <a:endParaRPr lang="en-US" sz="1500" dirty="0"/>
          </a:p>
        </p:txBody>
      </p:sp>
      <p:sp>
        <p:nvSpPr>
          <p:cNvPr id="6" name="Text 4"/>
          <p:cNvSpPr/>
          <p:nvPr/>
        </p:nvSpPr>
        <p:spPr>
          <a:xfrm>
            <a:off x="822960" y="4297680"/>
            <a:ext cx="7315200" cy="1371600"/>
          </a:xfrm>
          <a:prstGeom prst="rect">
            <a:avLst/>
          </a:prstGeom>
          <a:noFill/>
          <a:ln/>
        </p:spPr>
        <p:txBody>
          <a:bodyPr wrap="square" lIns="0" tIns="0" rIns="0" bIns="0" rtlCol="0" anchor="ctr"/>
          <a:lstStyle/>
          <a:p>
            <a:pPr indent="0" marL="0">
              <a:lnSpc>
                <a:spcPts val="2000"/>
              </a:lnSpc>
              <a:buNone/>
            </a:pPr>
            <a:r>
              <a:rPr lang="en-US" sz="1100" b="1" spc="150" kern="0" dirty="0">
                <a:solidFill>
                  <a:srgbClr val="E8A33D"/>
                </a:solidFill>
                <a:latin typeface="Calibri" pitchFamily="34" charset="0"/>
                <a:ea typeface="Calibri" pitchFamily="34" charset="-122"/>
                <a:cs typeface="Calibri" pitchFamily="34" charset="-120"/>
              </a:rPr>
              <a:t>Repository</a:t>
            </a:r>
            <a:endParaRPr lang="en-US" sz="1100" dirty="0"/>
          </a:p>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github.com/SamBhojwani/python-ai-internship</a:t>
            </a:r>
            <a:endParaRPr lang="en-US" sz="1100" dirty="0"/>
          </a:p>
          <a:p>
            <a:pPr indent="0" marL="0">
              <a:lnSpc>
                <a:spcPts val="2000"/>
              </a:lnSpc>
              <a:buNone/>
            </a:pPr>
            <a:r>
              <a:rPr lang="en-US" sz="800" dirty="0">
                <a:solidFill>
                  <a:srgbClr val="000000"/>
                </a:solidFill>
              </a:rPr>
              <a:t> </a:t>
            </a:r>
            <a:endParaRPr lang="en-US" sz="1100" dirty="0"/>
          </a:p>
          <a:p>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Samarth Bhojwani</a:t>
            </a:r>
            <a:endParaRPr lang="en-US" sz="1100" dirty="0"/>
          </a:p>
          <a:p>
            <a:pPr indent="0" marL="0">
              <a:lnSpc>
                <a:spcPts val="2000"/>
              </a:lnSpc>
              <a:buNone/>
            </a:pPr>
            <a:r>
              <a:rPr lang="en-US" sz="1200" dirty="0">
                <a:solidFill>
                  <a:srgbClr val="8A94A6"/>
                </a:solidFill>
                <a:latin typeface="Calibri" pitchFamily="34" charset="0"/>
                <a:ea typeface="Calibri" pitchFamily="34" charset="-122"/>
                <a:cs typeface="Calibri" pitchFamily="34" charset="-120"/>
              </a:rPr>
              <a:t>Mentor: Harish Kumar S, Team Lead, Muthu Soft Labs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AI Knowledge Assistant</dc:title>
  <dc:subject>PptxGenJS Presentation</dc:subject>
  <dc:creator>Samarth Bhojwani</dc:creator>
  <cp:lastModifiedBy>Samarth Bhojwani</cp:lastModifiedBy>
  <cp:revision>1</cp:revision>
  <dcterms:created xsi:type="dcterms:W3CDTF">2026-07-23T04:37:04Z</dcterms:created>
  <dcterms:modified xsi:type="dcterms:W3CDTF">2026-07-23T04:37:04Z</dcterms:modified>
</cp:coreProperties>
</file>